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60" r:id="rId6"/>
    <p:sldId id="257" r:id="rId7"/>
    <p:sldId id="274" r:id="rId8"/>
    <p:sldId id="267" r:id="rId9"/>
    <p:sldId id="268" r:id="rId10"/>
    <p:sldId id="258" r:id="rId11"/>
    <p:sldId id="269" r:id="rId12"/>
    <p:sldId id="270" r:id="rId13"/>
    <p:sldId id="275" r:id="rId14"/>
    <p:sldId id="261" r:id="rId15"/>
    <p:sldId id="263" r:id="rId16"/>
    <p:sldId id="264" r:id="rId17"/>
    <p:sldId id="265"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444"/>
    <a:srgbClr val="475569"/>
    <a:srgbClr val="000000"/>
    <a:srgbClr val="BEF8DC"/>
    <a:srgbClr val="ECFD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1"/>
  <c:style val="2"/>
  <c:chart>
    <c:autoTitleDeleted val="1"/>
    <c:plotArea>
      <c:layout/>
      <c:barChart>
        <c:barDir val="col"/>
        <c:grouping val="clustered"/>
        <c:varyColors val="0"/>
        <c:ser>
          <c:idx val="0"/>
          <c:order val="0"/>
          <c:tx>
            <c:strRef>
              <c:f>Sheet1!$B$1</c:f>
              <c:strCache>
                <c:ptCount val="1"/>
                <c:pt idx="0">
                  <c:v>Acurácia (%)</c:v>
                </c:pt>
              </c:strCache>
            </c:strRef>
          </c:tx>
          <c:spPr>
            <a:solidFill>
              <a:srgbClr val="0369A1"/>
            </a:solidFill>
            <a:effectLst/>
          </c:spPr>
          <c:invertIfNegative val="0"/>
          <c:dPt>
            <c:idx val="0"/>
            <c:invertIfNegative val="0"/>
            <c:bubble3D val="0"/>
            <c:extLst>
              <c:ext xmlns:c16="http://schemas.microsoft.com/office/drawing/2014/chart" uri="{C3380CC4-5D6E-409C-BE32-E72D297353CC}">
                <c16:uniqueId val="{00000001-9921-41C3-911C-6CB45836F56D}"/>
              </c:ext>
            </c:extLst>
          </c:dPt>
          <c:dPt>
            <c:idx val="1"/>
            <c:invertIfNegative val="0"/>
            <c:bubble3D val="0"/>
            <c:spPr>
              <a:solidFill>
                <a:srgbClr val="7C3AED"/>
              </a:solidFill>
              <a:effectLst/>
            </c:spPr>
            <c:extLst>
              <c:ext xmlns:c16="http://schemas.microsoft.com/office/drawing/2014/chart" uri="{C3380CC4-5D6E-409C-BE32-E72D297353CC}">
                <c16:uniqueId val="{00000003-9921-41C3-911C-6CB45836F56D}"/>
              </c:ext>
            </c:extLst>
          </c:dPt>
          <c:dPt>
            <c:idx val="2"/>
            <c:invertIfNegative val="0"/>
            <c:bubble3D val="0"/>
            <c:spPr>
              <a:solidFill>
                <a:srgbClr val="059669"/>
              </a:solidFill>
              <a:effectLst/>
            </c:spPr>
            <c:extLst>
              <c:ext xmlns:c16="http://schemas.microsoft.com/office/drawing/2014/chart" uri="{C3380CC4-5D6E-409C-BE32-E72D297353CC}">
                <c16:uniqueId val="{00000005-9921-41C3-911C-6CB45836F56D}"/>
              </c:ext>
            </c:extLst>
          </c:dPt>
          <c:dLbls>
            <c:numFmt formatCode="#,##0" sourceLinked="0"/>
            <c:spPr>
              <a:noFill/>
              <a:ln>
                <a:noFill/>
              </a:ln>
              <a:effectLst/>
            </c:spPr>
            <c:txPr>
              <a:bodyPr/>
              <a:lstStyle/>
              <a:p>
                <a:pPr>
                  <a:defRPr sz="1200" b="0" i="0" u="none" strike="noStrike">
                    <a:solidFill>
                      <a:srgbClr val="1E293B"/>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KNN</c:v>
                </c:pt>
                <c:pt idx="1">
                  <c:v>Árvore de Decisão</c:v>
                </c:pt>
                <c:pt idx="2">
                  <c:v>Regressão Logística</c:v>
                </c:pt>
              </c:strCache>
            </c:strRef>
          </c:cat>
          <c:val>
            <c:numRef>
              <c:f>Sheet1!$B$2:$B$4</c:f>
              <c:numCache>
                <c:formatCode>General</c:formatCode>
                <c:ptCount val="3"/>
                <c:pt idx="0">
                  <c:v>89.9</c:v>
                </c:pt>
                <c:pt idx="1">
                  <c:v>90.5</c:v>
                </c:pt>
                <c:pt idx="2">
                  <c:v>93.4</c:v>
                </c:pt>
              </c:numCache>
            </c:numRef>
          </c:val>
          <c:extLst>
            <c:ext xmlns:c16="http://schemas.microsoft.com/office/drawing/2014/chart" uri="{C3380CC4-5D6E-409C-BE32-E72D297353CC}">
              <c16:uniqueId val="{00000006-9921-41C3-911C-6CB45836F56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pt-BR"/>
          </a:p>
        </c:txPr>
        <c:crossAx val="2094734552"/>
        <c:crosses val="autoZero"/>
        <c:auto val="1"/>
        <c:lblAlgn val="ctr"/>
        <c:lblOffset val="100"/>
        <c:noMultiLvlLbl val="1"/>
      </c:catAx>
      <c:valAx>
        <c:axId val="2094734552"/>
        <c:scaling>
          <c:orientation val="minMax"/>
          <c:max val="100"/>
          <c:min val="8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pt-BR"/>
          </a:p>
        </c:txPr>
        <c:crossAx val="2094734554"/>
        <c:crosses val="autoZero"/>
        <c:crossBetween val="between"/>
      </c:valAx>
      <c:spPr>
        <a:noFill/>
        <a:ln>
          <a:noFill/>
        </a:ln>
        <a:effectLst/>
      </c:spPr>
    </c:plotArea>
    <c:plotVisOnly val="1"/>
    <c:dispBlanksAs val="span"/>
    <c:showDLblsOverMax val="1"/>
  </c:chart>
  <c:spPr>
    <a:solidFill>
      <a:srgbClr val="F8FA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822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Bom dia/boa tarde! O nosso projeto aplica Inteligência Artificial para prever o nível de burnout de profissionais da área de tecnologia, usando um comitê de três classificadores.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treinar qualquer modelo, preparamos os dados. O computador só entende números, então convertemos texto em valores numéricos. Também tratamos valores ausentes e dividimos: 80% para o modelo aprender e 20% para testar.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Burnout é um problema sério na área de tecnologia. Escolhemos esse tema porque é relevante e real. Com IA, é possível analisar dados de um funcionário e prever se ele está em risco alto, moderado ou baixo.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treinar qualquer modelo, preparamos os dados. O computador só entende números, então convertemos texto em valores numéricos. Também tratamos valores ausentes e dividimos: 80% para o modelo aprender e 20% para testar.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90871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variável que a IA tenta prever é o nível de burnout: alto, moderado ou baixo. Todas as outras colunas são usadas como informações de entrada. Removemos burnout_score para evitar vazamento de dados.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873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variável que a IA tenta prever é o nível de burnout: alto, moderado ou baixo. Todas as outras colunas são usadas como informações de entrada. Removemos burnout_score para evitar vazamento de dados.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594994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um dataset público do Kaggle chamado Tech Mental Health and Burnout. Ele contém informações de profissionais de tecnologia com dados como horas trabalhadas, nível de estresse, trabalho remoto, entre outros.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um dataset público do Kaggle chamado Tech Mental Health and Burnout. Ele contém informações de profissionais de tecnologia com dados como horas trabalhadas, nível de estresse, trabalho remoto, entre outros.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21897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um dataset público do Kaggle chamado Tech Mental Health and Burnout. Ele contém informações de profissionais de tecnologia com dados como horas trabalhadas, nível de estresse, trabalho remoto, entre outros.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54284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um dataset público do Kaggle chamado Tech Mental Health and Burnout. Ele contém informações de profissionais de tecnologia com dados como horas trabalhadas, nível de estresse, trabalho remoto, entre outros.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021004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Treinamos três modelos diferentes. A Árvore de Decisão funciona como um fluxograma. O KNN compara perfis similares. A Regressão Logística usa equações matemáticas. Cada um foi avaliado individualmente com acurácia e matriz de confusão.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Individualmente, a Regressão Logística teve o melhor desempenho com 93,4% de acurácia. O comitê combina os três para uma decisão mais robusta — mesmo que um modelo erre, os outros dois compensam.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Concluímos que é possível prever o nível de burnout de profissionais de TI com boa precisão. A estratégia de comitê é mais confiável do que depender de um único modelo. Como melhoria futura, aplicaríamos normalização dos dados.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Agradecemos a atenção e ficamos à disposição para perguntas.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44"/>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0D9488"/>
          </a:solidFill>
          <a:ln/>
        </p:spPr>
        <p:txBody>
          <a:bodyPr/>
          <a:lstStyle/>
          <a:p>
            <a:endParaRPr lang="pt-BR" dirty="0"/>
          </a:p>
        </p:txBody>
      </p:sp>
      <p:sp>
        <p:nvSpPr>
          <p:cNvPr id="3" name="Text 1"/>
          <p:cNvSpPr/>
          <p:nvPr/>
        </p:nvSpPr>
        <p:spPr>
          <a:xfrm>
            <a:off x="457200" y="640080"/>
            <a:ext cx="8229600" cy="914400"/>
          </a:xfrm>
          <a:prstGeom prst="rect">
            <a:avLst/>
          </a:prstGeom>
          <a:noFill/>
          <a:ln/>
        </p:spPr>
        <p:txBody>
          <a:bodyPr wrap="square" rtlCol="0" anchor="ctr"/>
          <a:lstStyle/>
          <a:p>
            <a:pPr algn="ctr"/>
            <a:r>
              <a:rPr lang="pt-BR" sz="3600" b="1" dirty="0">
                <a:solidFill>
                  <a:srgbClr val="FFFFFF"/>
                </a:solidFill>
              </a:rPr>
              <a:t>Saúde Mental &amp; </a:t>
            </a:r>
            <a:r>
              <a:rPr lang="pt-BR" sz="3600" b="1" dirty="0" err="1">
                <a:solidFill>
                  <a:srgbClr val="FFFFFF"/>
                </a:solidFill>
              </a:rPr>
              <a:t>Burnout</a:t>
            </a:r>
            <a:r>
              <a:rPr lang="pt-BR" sz="3600" b="1" dirty="0">
                <a:solidFill>
                  <a:srgbClr val="FFFFFF"/>
                </a:solidFill>
              </a:rPr>
              <a:t> no TI</a:t>
            </a:r>
            <a:endParaRPr lang="en-US" sz="3600" dirty="0"/>
          </a:p>
        </p:txBody>
      </p:sp>
      <p:sp>
        <p:nvSpPr>
          <p:cNvPr id="4" name="Text 2"/>
          <p:cNvSpPr/>
          <p:nvPr/>
        </p:nvSpPr>
        <p:spPr>
          <a:xfrm>
            <a:off x="457200" y="1508760"/>
            <a:ext cx="8229600" cy="594360"/>
          </a:xfrm>
          <a:prstGeom prst="rect">
            <a:avLst/>
          </a:prstGeom>
          <a:noFill/>
          <a:ln/>
        </p:spPr>
        <p:txBody>
          <a:bodyPr wrap="square" rtlCol="0" anchor="ctr"/>
          <a:lstStyle/>
          <a:p>
            <a:pPr marL="0" indent="0" algn="ctr">
              <a:buNone/>
            </a:pPr>
            <a:r>
              <a:rPr lang="en-US" sz="2000" i="1" dirty="0">
                <a:solidFill>
                  <a:srgbClr val="93C5FD"/>
                </a:solidFill>
              </a:rPr>
              <a:t>Previsão de Burnout em Profissionais de TI</a:t>
            </a:r>
            <a:endParaRPr lang="en-US" sz="2000" dirty="0"/>
          </a:p>
        </p:txBody>
      </p:sp>
      <p:sp>
        <p:nvSpPr>
          <p:cNvPr id="5" name="Text 3"/>
          <p:cNvSpPr/>
          <p:nvPr/>
        </p:nvSpPr>
        <p:spPr>
          <a:xfrm>
            <a:off x="457200" y="2343150"/>
            <a:ext cx="8229600" cy="457200"/>
          </a:xfrm>
          <a:prstGeom prst="rect">
            <a:avLst/>
          </a:prstGeom>
          <a:noFill/>
          <a:ln/>
        </p:spPr>
        <p:txBody>
          <a:bodyPr wrap="square" rtlCol="0" anchor="ctr"/>
          <a:lstStyle/>
          <a:p>
            <a:pPr marL="0" indent="0" algn="ctr">
              <a:buNone/>
            </a:pPr>
            <a:r>
              <a:rPr lang="en-US" sz="1400" dirty="0">
                <a:solidFill>
                  <a:srgbClr val="94A3B8"/>
                </a:solidFill>
              </a:rPr>
              <a:t>Avaliação A3 — </a:t>
            </a:r>
            <a:r>
              <a:rPr lang="en-US" sz="1400" dirty="0" err="1">
                <a:solidFill>
                  <a:srgbClr val="94A3B8"/>
                </a:solidFill>
              </a:rPr>
              <a:t>Inteligência</a:t>
            </a:r>
            <a:r>
              <a:rPr lang="en-US" sz="1400" dirty="0">
                <a:solidFill>
                  <a:srgbClr val="94A3B8"/>
                </a:solidFill>
              </a:rPr>
              <a:t> Artificial</a:t>
            </a:r>
          </a:p>
          <a:p>
            <a:pPr algn="ctr"/>
            <a:r>
              <a:rPr lang="en-US" sz="1400" dirty="0">
                <a:solidFill>
                  <a:srgbClr val="94A3B8"/>
                </a:solidFill>
              </a:rPr>
              <a:t>Prof: </a:t>
            </a:r>
            <a:r>
              <a:rPr lang="pt-BR" sz="1400" dirty="0">
                <a:solidFill>
                  <a:srgbClr val="94A3B8"/>
                </a:solidFill>
              </a:rPr>
              <a:t>Marcelo </a:t>
            </a:r>
            <a:r>
              <a:rPr lang="pt-BR" sz="1400" dirty="0" err="1">
                <a:solidFill>
                  <a:srgbClr val="94A3B8"/>
                </a:solidFill>
              </a:rPr>
              <a:t>Duduchi</a:t>
            </a:r>
            <a:r>
              <a:rPr lang="pt-BR" sz="1400" dirty="0">
                <a:solidFill>
                  <a:srgbClr val="94A3B8"/>
                </a:solidFill>
              </a:rPr>
              <a:t> Feitosa e </a:t>
            </a:r>
            <a:r>
              <a:rPr lang="pt-BR" sz="1400" dirty="0" err="1">
                <a:solidFill>
                  <a:srgbClr val="94A3B8"/>
                </a:solidFill>
              </a:rPr>
              <a:t>Adavilson</a:t>
            </a:r>
            <a:r>
              <a:rPr lang="pt-BR" sz="1400" dirty="0">
                <a:solidFill>
                  <a:srgbClr val="94A3B8"/>
                </a:solidFill>
              </a:rPr>
              <a:t> Martins Pins</a:t>
            </a:r>
            <a:endParaRPr lang="en-US" sz="1400" dirty="0"/>
          </a:p>
        </p:txBody>
      </p:sp>
      <p:sp>
        <p:nvSpPr>
          <p:cNvPr id="6" name="Text 4"/>
          <p:cNvSpPr/>
          <p:nvPr/>
        </p:nvSpPr>
        <p:spPr>
          <a:xfrm>
            <a:off x="457200" y="3520440"/>
            <a:ext cx="8229600" cy="1463040"/>
          </a:xfrm>
          <a:prstGeom prst="rect">
            <a:avLst/>
          </a:prstGeom>
          <a:noFill/>
          <a:ln/>
        </p:spPr>
        <p:txBody>
          <a:bodyPr wrap="square" numCol="1" rtlCol="0" anchor="ctr"/>
          <a:lstStyle/>
          <a:p>
            <a:pPr algn="ctr"/>
            <a:r>
              <a:rPr lang="en-US" sz="1300" dirty="0" err="1">
                <a:solidFill>
                  <a:srgbClr val="FFFFFF"/>
                </a:solidFill>
              </a:rPr>
              <a:t>Kaic</a:t>
            </a:r>
            <a:r>
              <a:rPr lang="en-US" sz="1300" dirty="0">
                <a:solidFill>
                  <a:srgbClr val="FFFFFF"/>
                </a:solidFill>
              </a:rPr>
              <a:t> Cavalcanti (824155037)  ·  Gustavo Soggia (824147271)  ·  Pedro Carvalho (825211344)</a:t>
            </a:r>
            <a:endParaRPr lang="en-US" sz="1300" dirty="0"/>
          </a:p>
          <a:p>
            <a:pPr algn="ctr"/>
            <a:r>
              <a:rPr lang="en-US" sz="1300" dirty="0" err="1">
                <a:solidFill>
                  <a:srgbClr val="FFFFFF"/>
                </a:solidFill>
              </a:rPr>
              <a:t>Kaique</a:t>
            </a:r>
            <a:r>
              <a:rPr lang="en-US" sz="1300" dirty="0">
                <a:solidFill>
                  <a:srgbClr val="FFFFFF"/>
                </a:solidFill>
              </a:rPr>
              <a:t> </a:t>
            </a:r>
            <a:r>
              <a:rPr lang="en-US" sz="1300" dirty="0" err="1">
                <a:solidFill>
                  <a:srgbClr val="FFFFFF"/>
                </a:solidFill>
              </a:rPr>
              <a:t>Diniz</a:t>
            </a:r>
            <a:r>
              <a:rPr lang="en-US" sz="1300" dirty="0">
                <a:solidFill>
                  <a:srgbClr val="FFFFFF"/>
                </a:solidFill>
              </a:rPr>
              <a:t> (824155790)  ·  </a:t>
            </a:r>
            <a:r>
              <a:rPr lang="en-US" sz="1300" dirty="0" err="1">
                <a:solidFill>
                  <a:srgbClr val="FFFFFF"/>
                </a:solidFill>
              </a:rPr>
              <a:t>Wanderlei</a:t>
            </a:r>
            <a:r>
              <a:rPr lang="en-US" sz="1300" dirty="0">
                <a:solidFill>
                  <a:srgbClr val="FFFFFF"/>
                </a:solidFill>
              </a:rPr>
              <a:t> </a:t>
            </a:r>
            <a:r>
              <a:rPr lang="en-US" sz="1300" dirty="0" err="1">
                <a:solidFill>
                  <a:srgbClr val="FFFFFF"/>
                </a:solidFill>
              </a:rPr>
              <a:t>Mamani</a:t>
            </a:r>
            <a:r>
              <a:rPr lang="en-US" sz="1300" dirty="0">
                <a:solidFill>
                  <a:srgbClr val="FFFFFF"/>
                </a:solidFill>
              </a:rPr>
              <a:t> (824145077)  ·  Rafaela de Carvalho (823117359)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err="1">
                <a:solidFill>
                  <a:srgbClr val="FFFFFF"/>
                </a:solidFill>
              </a:rPr>
              <a:t>Objetivo</a:t>
            </a:r>
            <a:r>
              <a:rPr lang="en-US" sz="2600" b="1" dirty="0">
                <a:solidFill>
                  <a:srgbClr val="FFFFFF"/>
                </a:solidFill>
              </a:rPr>
              <a:t> do </a:t>
            </a:r>
            <a:r>
              <a:rPr lang="en-US" sz="2600" b="1" dirty="0" err="1">
                <a:solidFill>
                  <a:srgbClr val="FFFFFF"/>
                </a:solidFill>
              </a:rPr>
              <a:t>Projeto</a:t>
            </a:r>
            <a:endParaRPr lang="en-US" sz="2600" dirty="0"/>
          </a:p>
        </p:txBody>
      </p:sp>
      <p:sp>
        <p:nvSpPr>
          <p:cNvPr id="4" name="Shape 2"/>
          <p:cNvSpPr/>
          <p:nvPr/>
        </p:nvSpPr>
        <p:spPr>
          <a:xfrm>
            <a:off x="365760" y="1234440"/>
            <a:ext cx="8247888" cy="3429000"/>
          </a:xfrm>
          <a:prstGeom prst="roundRect">
            <a:avLst>
              <a:gd name="adj" fmla="val 5714"/>
            </a:avLst>
          </a:prstGeom>
          <a:solidFill>
            <a:srgbClr val="FFFFFF"/>
          </a:solidFill>
          <a:ln/>
          <a:effectLst>
            <a:outerShdw blurRad="76200" dist="25400" dir="2700000" algn="bl" rotWithShape="0">
              <a:srgbClr val="000000">
                <a:alpha val="8000"/>
              </a:srgbClr>
            </a:outerShdw>
          </a:effectLst>
        </p:spPr>
      </p:sp>
      <p:sp>
        <p:nvSpPr>
          <p:cNvPr id="16" name="Text 14"/>
          <p:cNvSpPr/>
          <p:nvPr/>
        </p:nvSpPr>
        <p:spPr>
          <a:xfrm>
            <a:off x="530352" y="3227832"/>
            <a:ext cx="438912" cy="438912"/>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1" name="Text 19"/>
          <p:cNvSpPr/>
          <p:nvPr/>
        </p:nvSpPr>
        <p:spPr>
          <a:xfrm>
            <a:off x="4828032" y="3227832"/>
            <a:ext cx="438912" cy="438912"/>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4" name="Shape 2">
            <a:extLst>
              <a:ext uri="{FF2B5EF4-FFF2-40B4-BE49-F238E27FC236}">
                <a16:creationId xmlns:a16="http://schemas.microsoft.com/office/drawing/2014/main" id="{7F5D47D8-E76C-4FAB-A80B-C0891C36F69E}"/>
              </a:ext>
            </a:extLst>
          </p:cNvPr>
          <p:cNvSpPr/>
          <p:nvPr/>
        </p:nvSpPr>
        <p:spPr>
          <a:xfrm>
            <a:off x="608274" y="1440778"/>
            <a:ext cx="3049325" cy="2912562"/>
          </a:xfrm>
          <a:prstGeom prst="roundRect">
            <a:avLst>
              <a:gd name="adj" fmla="val 3390"/>
            </a:avLst>
          </a:prstGeom>
          <a:solidFill>
            <a:srgbClr val="FFFFFF"/>
          </a:solidFill>
          <a:ln>
            <a:solidFill>
              <a:schemeClr val="accent1">
                <a:lumMod val="50000"/>
              </a:schemeClr>
            </a:solidFill>
          </a:ln>
          <a:effectLst>
            <a:outerShdw blurRad="101600" dist="38100" dir="2700000" algn="bl" rotWithShape="0">
              <a:srgbClr val="000000">
                <a:alpha val="10000"/>
              </a:srgbClr>
            </a:outerShdw>
          </a:effectLst>
        </p:spPr>
      </p:sp>
      <p:sp>
        <p:nvSpPr>
          <p:cNvPr id="26" name="Text 5">
            <a:extLst>
              <a:ext uri="{FF2B5EF4-FFF2-40B4-BE49-F238E27FC236}">
                <a16:creationId xmlns:a16="http://schemas.microsoft.com/office/drawing/2014/main" id="{685CA066-C664-45E0-B72C-BB2D5734A603}"/>
              </a:ext>
            </a:extLst>
          </p:cNvPr>
          <p:cNvSpPr/>
          <p:nvPr/>
        </p:nvSpPr>
        <p:spPr>
          <a:xfrm>
            <a:off x="791155" y="1590261"/>
            <a:ext cx="2717358" cy="2613991"/>
          </a:xfrm>
          <a:prstGeom prst="rect">
            <a:avLst/>
          </a:prstGeom>
          <a:noFill/>
          <a:ln/>
        </p:spPr>
        <p:txBody>
          <a:bodyPr wrap="square" rtlCol="0" anchor="ctr"/>
          <a:lstStyle/>
          <a:p>
            <a:pPr marL="171450" indent="-171450">
              <a:buFont typeface="Arial" panose="020B0604020202020204" pitchFamily="34" charset="0"/>
              <a:buChar char="•"/>
            </a:pPr>
            <a:r>
              <a:rPr lang="en-US" sz="1200" dirty="0" err="1"/>
              <a:t>Analisar</a:t>
            </a:r>
            <a:r>
              <a:rPr lang="en-US" sz="1200" dirty="0"/>
              <a:t> </a:t>
            </a:r>
            <a:r>
              <a:rPr lang="en-US" sz="1200" dirty="0" err="1"/>
              <a:t>fatores</a:t>
            </a:r>
            <a:r>
              <a:rPr lang="en-US" sz="1200" dirty="0"/>
              <a:t> </a:t>
            </a:r>
            <a:r>
              <a:rPr lang="en-US" sz="1200" dirty="0" err="1"/>
              <a:t>relacionados</a:t>
            </a:r>
            <a:r>
              <a:rPr lang="en-US" sz="1200" dirty="0"/>
              <a:t> </a:t>
            </a:r>
            <a:r>
              <a:rPr lang="en-US" sz="1200" dirty="0" err="1"/>
              <a:t>ao</a:t>
            </a:r>
            <a:r>
              <a:rPr lang="en-US" sz="1200" dirty="0"/>
              <a:t> Burnout </a:t>
            </a:r>
            <a:r>
              <a:rPr lang="en-US" sz="1200" dirty="0" err="1"/>
              <a:t>em</a:t>
            </a:r>
            <a:r>
              <a:rPr lang="en-US" sz="1200" dirty="0"/>
              <a:t> </a:t>
            </a:r>
            <a:r>
              <a:rPr lang="en-US" sz="1200" dirty="0" err="1"/>
              <a:t>profissionais</a:t>
            </a:r>
            <a:r>
              <a:rPr lang="en-US" sz="1200" dirty="0"/>
              <a:t> de TI</a:t>
            </a:r>
          </a:p>
          <a:p>
            <a:endParaRPr lang="en-US" sz="1200" dirty="0"/>
          </a:p>
          <a:p>
            <a:pPr marL="171450" indent="-171450">
              <a:buFont typeface="Arial" panose="020B0604020202020204" pitchFamily="34" charset="0"/>
              <a:buChar char="•"/>
            </a:pPr>
            <a:r>
              <a:rPr lang="en-US" sz="1200" dirty="0" err="1"/>
              <a:t>Aplicar</a:t>
            </a:r>
            <a:r>
              <a:rPr lang="en-US" sz="1200" dirty="0"/>
              <a:t> </a:t>
            </a:r>
            <a:r>
              <a:rPr lang="en-US" sz="1200" dirty="0" err="1"/>
              <a:t>Técnicas</a:t>
            </a:r>
            <a:r>
              <a:rPr lang="en-US" sz="1200" dirty="0"/>
              <a:t> de </a:t>
            </a:r>
            <a:r>
              <a:rPr lang="en-US" sz="1200" dirty="0" err="1"/>
              <a:t>aprendizado</a:t>
            </a:r>
            <a:r>
              <a:rPr lang="en-US" sz="1200" dirty="0"/>
              <a:t> de </a:t>
            </a:r>
            <a:r>
              <a:rPr lang="en-US" sz="1200" dirty="0" err="1"/>
              <a:t>máquina</a:t>
            </a:r>
            <a:r>
              <a:rPr lang="en-US" sz="1200" dirty="0"/>
              <a:t> para </a:t>
            </a:r>
            <a:r>
              <a:rPr lang="en-US" sz="1200" dirty="0" err="1"/>
              <a:t>identificar</a:t>
            </a:r>
            <a:r>
              <a:rPr lang="en-US" sz="1200" dirty="0"/>
              <a:t> </a:t>
            </a:r>
            <a:r>
              <a:rPr lang="en-US" sz="1200" dirty="0" err="1"/>
              <a:t>padrões</a:t>
            </a:r>
            <a:r>
              <a:rPr lang="en-US" sz="1200" dirty="0"/>
              <a:t> </a:t>
            </a:r>
            <a:r>
              <a:rPr lang="en-US" sz="1200" dirty="0" err="1"/>
              <a:t>nos</a:t>
            </a:r>
            <a:r>
              <a:rPr lang="en-US" sz="1200" dirty="0"/>
              <a:t> dados.</a:t>
            </a:r>
          </a:p>
          <a:p>
            <a:endParaRPr lang="en-US" sz="1200" dirty="0"/>
          </a:p>
          <a:p>
            <a:pPr marL="171450" indent="-171450">
              <a:buFont typeface="Arial" panose="020B0604020202020204" pitchFamily="34" charset="0"/>
              <a:buChar char="•"/>
            </a:pPr>
            <a:r>
              <a:rPr lang="en-US" sz="1200" dirty="0" err="1"/>
              <a:t>Comparar</a:t>
            </a:r>
            <a:r>
              <a:rPr lang="en-US" sz="1200" dirty="0"/>
              <a:t> o </a:t>
            </a:r>
            <a:r>
              <a:rPr lang="en-US" sz="1200" dirty="0" err="1"/>
              <a:t>desempenho</a:t>
            </a:r>
            <a:r>
              <a:rPr lang="en-US" sz="1200" dirty="0"/>
              <a:t> de </a:t>
            </a:r>
            <a:r>
              <a:rPr lang="en-US" sz="1200" dirty="0" err="1"/>
              <a:t>diferentes</a:t>
            </a:r>
            <a:r>
              <a:rPr lang="en-US" sz="1200" dirty="0"/>
              <a:t> </a:t>
            </a:r>
            <a:r>
              <a:rPr lang="en-US" sz="1200" dirty="0" err="1"/>
              <a:t>modelos</a:t>
            </a:r>
            <a:r>
              <a:rPr lang="en-US" sz="1200" dirty="0"/>
              <a:t> de </a:t>
            </a:r>
            <a:r>
              <a:rPr lang="en-US" sz="1200" dirty="0" err="1"/>
              <a:t>classificação</a:t>
            </a:r>
            <a:endParaRPr lang="en-US" sz="1200" dirty="0"/>
          </a:p>
          <a:p>
            <a:endParaRPr lang="en-US" sz="1200" dirty="0"/>
          </a:p>
          <a:p>
            <a:pPr marL="171450" indent="-171450">
              <a:buFont typeface="Arial" panose="020B0604020202020204" pitchFamily="34" charset="0"/>
              <a:buChar char="•"/>
            </a:pPr>
            <a:r>
              <a:rPr lang="en-US" sz="1200" dirty="0" err="1"/>
              <a:t>Prever</a:t>
            </a:r>
            <a:r>
              <a:rPr lang="en-US" sz="1200" dirty="0"/>
              <a:t> o </a:t>
            </a:r>
            <a:r>
              <a:rPr lang="en-US" sz="1200" dirty="0" err="1"/>
              <a:t>nível</a:t>
            </a:r>
            <a:r>
              <a:rPr lang="en-US" sz="1200" dirty="0"/>
              <a:t> de burnout com base </a:t>
            </a:r>
            <a:r>
              <a:rPr lang="en-US" sz="1200" dirty="0" err="1"/>
              <a:t>nas</a:t>
            </a:r>
            <a:r>
              <a:rPr lang="en-US" sz="1200" dirty="0"/>
              <a:t> </a:t>
            </a:r>
            <a:r>
              <a:rPr lang="en-US" sz="1200" dirty="0" err="1"/>
              <a:t>características</a:t>
            </a:r>
            <a:r>
              <a:rPr lang="en-US" sz="1200" dirty="0"/>
              <a:t> dos </a:t>
            </a:r>
            <a:r>
              <a:rPr lang="en-US" sz="1200" dirty="0" err="1"/>
              <a:t>funcionários</a:t>
            </a:r>
            <a:r>
              <a:rPr lang="en-US" sz="1200" dirty="0"/>
              <a:t>.</a:t>
            </a:r>
          </a:p>
        </p:txBody>
      </p:sp>
      <p:sp>
        <p:nvSpPr>
          <p:cNvPr id="5" name="AutoShape 2" descr="How to solve the burnout problem | The People Space">
            <a:extLst>
              <a:ext uri="{FF2B5EF4-FFF2-40B4-BE49-F238E27FC236}">
                <a16:creationId xmlns:a16="http://schemas.microsoft.com/office/drawing/2014/main" id="{32368736-A98E-45B6-9F72-125B330AF9E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pic>
        <p:nvPicPr>
          <p:cNvPr id="6" name="Imagem 5">
            <a:extLst>
              <a:ext uri="{FF2B5EF4-FFF2-40B4-BE49-F238E27FC236}">
                <a16:creationId xmlns:a16="http://schemas.microsoft.com/office/drawing/2014/main" id="{7A35F524-9C5C-4486-BD79-CDE9826C425E}"/>
              </a:ext>
            </a:extLst>
          </p:cNvPr>
          <p:cNvPicPr>
            <a:picLocks noChangeAspect="1"/>
          </p:cNvPicPr>
          <p:nvPr/>
        </p:nvPicPr>
        <p:blipFill>
          <a:blip r:embed="rId3"/>
          <a:stretch>
            <a:fillRect/>
          </a:stretch>
        </p:blipFill>
        <p:spPr>
          <a:xfrm>
            <a:off x="4419600" y="1534984"/>
            <a:ext cx="3714750" cy="2724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err="1">
                <a:solidFill>
                  <a:srgbClr val="FFFFFF"/>
                </a:solidFill>
              </a:rPr>
              <a:t>Formação</a:t>
            </a:r>
            <a:r>
              <a:rPr lang="en-US" sz="2600" b="1" dirty="0">
                <a:solidFill>
                  <a:srgbClr val="FFFFFF"/>
                </a:solidFill>
              </a:rPr>
              <a:t> do Grupo</a:t>
            </a:r>
            <a:endParaRPr lang="en-US" sz="2600" dirty="0"/>
          </a:p>
        </p:txBody>
      </p:sp>
      <p:sp>
        <p:nvSpPr>
          <p:cNvPr id="4" name="Shape 2"/>
          <p:cNvSpPr/>
          <p:nvPr/>
        </p:nvSpPr>
        <p:spPr>
          <a:xfrm>
            <a:off x="320040" y="1343772"/>
            <a:ext cx="2697480" cy="1618090"/>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6" name="Text 4"/>
          <p:cNvSpPr/>
          <p:nvPr/>
        </p:nvSpPr>
        <p:spPr>
          <a:xfrm>
            <a:off x="502920" y="1347748"/>
            <a:ext cx="2423160" cy="457200"/>
          </a:xfrm>
          <a:prstGeom prst="rect">
            <a:avLst/>
          </a:prstGeom>
          <a:noFill/>
          <a:ln/>
        </p:spPr>
        <p:txBody>
          <a:bodyPr wrap="square" rtlCol="0" anchor="ctr"/>
          <a:lstStyle/>
          <a:p>
            <a:pPr algn="ctr"/>
            <a:r>
              <a:rPr lang="en-US" sz="1400" b="1" dirty="0" err="1">
                <a:solidFill>
                  <a:srgbClr val="1A2444"/>
                </a:solidFill>
              </a:rPr>
              <a:t>Kaic</a:t>
            </a:r>
            <a:r>
              <a:rPr lang="en-US" sz="1400" b="1" dirty="0">
                <a:solidFill>
                  <a:srgbClr val="1A2444"/>
                </a:solidFill>
              </a:rPr>
              <a:t> Cavalcanti Pereira</a:t>
            </a:r>
            <a:endParaRPr lang="en-US" sz="1400" dirty="0"/>
          </a:p>
        </p:txBody>
      </p:sp>
      <p:sp>
        <p:nvSpPr>
          <p:cNvPr id="7" name="Text 5"/>
          <p:cNvSpPr/>
          <p:nvPr/>
        </p:nvSpPr>
        <p:spPr>
          <a:xfrm>
            <a:off x="502920" y="1850668"/>
            <a:ext cx="2423160" cy="830414"/>
          </a:xfrm>
          <a:prstGeom prst="rect">
            <a:avLst/>
          </a:prstGeom>
          <a:noFill/>
          <a:ln/>
        </p:spPr>
        <p:txBody>
          <a:bodyPr wrap="square" rtlCol="0" anchor="ctr"/>
          <a:lstStyle/>
          <a:p>
            <a:pPr algn="ctr"/>
            <a:r>
              <a:rPr lang="pt-BR" sz="1200" dirty="0">
                <a:solidFill>
                  <a:srgbClr val="475569"/>
                </a:solidFill>
              </a:rPr>
              <a:t>Pesquisou e selecionou o </a:t>
            </a:r>
            <a:r>
              <a:rPr lang="pt-BR" sz="1200" dirty="0" err="1">
                <a:solidFill>
                  <a:srgbClr val="475569"/>
                </a:solidFill>
              </a:rPr>
              <a:t>dataset</a:t>
            </a:r>
            <a:r>
              <a:rPr lang="pt-BR" sz="1200" dirty="0">
                <a:solidFill>
                  <a:srgbClr val="475569"/>
                </a:solidFill>
              </a:rPr>
              <a:t> no </a:t>
            </a:r>
            <a:r>
              <a:rPr lang="pt-BR" sz="1200" dirty="0" err="1">
                <a:solidFill>
                  <a:srgbClr val="475569"/>
                </a:solidFill>
              </a:rPr>
              <a:t>Kaggle</a:t>
            </a:r>
            <a:r>
              <a:rPr lang="pt-BR" sz="1200" dirty="0">
                <a:solidFill>
                  <a:srgbClr val="475569"/>
                </a:solidFill>
              </a:rPr>
              <a:t>, analisou as variáveis disponíveis e justificou a escolha pelo contexto de saúde mental em tecnologia.</a:t>
            </a:r>
            <a:endParaRPr lang="en-US" sz="1200" dirty="0"/>
          </a:p>
        </p:txBody>
      </p:sp>
      <p:sp>
        <p:nvSpPr>
          <p:cNvPr id="8" name="Shape 6"/>
          <p:cNvSpPr/>
          <p:nvPr/>
        </p:nvSpPr>
        <p:spPr>
          <a:xfrm>
            <a:off x="3200400" y="1343772"/>
            <a:ext cx="2697480" cy="1618090"/>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10" name="Text 8"/>
          <p:cNvSpPr/>
          <p:nvPr/>
        </p:nvSpPr>
        <p:spPr>
          <a:xfrm>
            <a:off x="3337560" y="1347748"/>
            <a:ext cx="2423160" cy="457200"/>
          </a:xfrm>
          <a:prstGeom prst="rect">
            <a:avLst/>
          </a:prstGeom>
          <a:noFill/>
          <a:ln/>
        </p:spPr>
        <p:txBody>
          <a:bodyPr wrap="square" rtlCol="0" anchor="ctr"/>
          <a:lstStyle/>
          <a:p>
            <a:pPr algn="ctr"/>
            <a:r>
              <a:rPr lang="en-US" sz="1400" b="1" dirty="0">
                <a:solidFill>
                  <a:srgbClr val="1A2444"/>
                </a:solidFill>
              </a:rPr>
              <a:t>Gustavo Pereira Soggia</a:t>
            </a:r>
            <a:endParaRPr lang="en-US" sz="1400" dirty="0"/>
          </a:p>
        </p:txBody>
      </p:sp>
      <p:sp>
        <p:nvSpPr>
          <p:cNvPr id="11" name="Text 9"/>
          <p:cNvSpPr/>
          <p:nvPr/>
        </p:nvSpPr>
        <p:spPr>
          <a:xfrm>
            <a:off x="3200400" y="1810912"/>
            <a:ext cx="2697480" cy="1111194"/>
          </a:xfrm>
          <a:prstGeom prst="rect">
            <a:avLst/>
          </a:prstGeom>
          <a:noFill/>
          <a:ln/>
        </p:spPr>
        <p:txBody>
          <a:bodyPr wrap="square" rtlCol="0" anchor="ctr"/>
          <a:lstStyle/>
          <a:p>
            <a:pPr algn="ctr"/>
            <a:r>
              <a:rPr lang="pt-BR" sz="1100" dirty="0">
                <a:solidFill>
                  <a:srgbClr val="475569"/>
                </a:solidFill>
              </a:rPr>
              <a:t>Identificou </a:t>
            </a:r>
            <a:r>
              <a:rPr lang="pt-BR" sz="1100" dirty="0" err="1">
                <a:solidFill>
                  <a:srgbClr val="475569"/>
                </a:solidFill>
              </a:rPr>
              <a:t>burnout_level</a:t>
            </a:r>
            <a:r>
              <a:rPr lang="pt-BR" sz="1100" dirty="0">
                <a:solidFill>
                  <a:srgbClr val="475569"/>
                </a:solidFill>
              </a:rPr>
              <a:t> como variável alvo, definiu as </a:t>
            </a:r>
            <a:r>
              <a:rPr lang="pt-BR" sz="1100" dirty="0" err="1">
                <a:solidFill>
                  <a:srgbClr val="475569"/>
                </a:solidFill>
              </a:rPr>
              <a:t>features</a:t>
            </a:r>
            <a:r>
              <a:rPr lang="pt-BR" sz="1100" dirty="0">
                <a:solidFill>
                  <a:srgbClr val="475569"/>
                </a:solidFill>
              </a:rPr>
              <a:t> independentes, descartou </a:t>
            </a:r>
            <a:r>
              <a:rPr lang="pt-BR" sz="1100" dirty="0" err="1">
                <a:solidFill>
                  <a:srgbClr val="475569"/>
                </a:solidFill>
              </a:rPr>
              <a:t>burnout_score</a:t>
            </a:r>
            <a:r>
              <a:rPr lang="pt-BR" sz="1100" dirty="0">
                <a:solidFill>
                  <a:srgbClr val="475569"/>
                </a:solidFill>
              </a:rPr>
              <a:t> para evitar vazamento de dados, realizou a codificação das variáveis categóricas, tratamento de valores ausentes e separação entre treino e teste.</a:t>
            </a:r>
            <a:endParaRPr lang="en-US" sz="1100" dirty="0"/>
          </a:p>
        </p:txBody>
      </p:sp>
      <p:sp>
        <p:nvSpPr>
          <p:cNvPr id="12" name="Shape 10"/>
          <p:cNvSpPr/>
          <p:nvPr/>
        </p:nvSpPr>
        <p:spPr>
          <a:xfrm>
            <a:off x="6080760" y="1343772"/>
            <a:ext cx="2697480" cy="1618090"/>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14" name="Text 12"/>
          <p:cNvSpPr/>
          <p:nvPr/>
        </p:nvSpPr>
        <p:spPr>
          <a:xfrm>
            <a:off x="6217920" y="1427260"/>
            <a:ext cx="2423160" cy="457200"/>
          </a:xfrm>
          <a:prstGeom prst="rect">
            <a:avLst/>
          </a:prstGeom>
          <a:noFill/>
          <a:ln/>
        </p:spPr>
        <p:txBody>
          <a:bodyPr wrap="square" rtlCol="0" anchor="ctr"/>
          <a:lstStyle/>
          <a:p>
            <a:pPr algn="ctr"/>
            <a:r>
              <a:rPr lang="pt-BR" sz="1400" b="1" dirty="0">
                <a:solidFill>
                  <a:srgbClr val="1A2444"/>
                </a:solidFill>
              </a:rPr>
              <a:t>Pedro Antônio Couto de Carvalho</a:t>
            </a:r>
            <a:endParaRPr lang="en-US" sz="1400" dirty="0"/>
          </a:p>
        </p:txBody>
      </p:sp>
      <p:sp>
        <p:nvSpPr>
          <p:cNvPr id="15" name="Text 13"/>
          <p:cNvSpPr/>
          <p:nvPr/>
        </p:nvSpPr>
        <p:spPr>
          <a:xfrm>
            <a:off x="6217920" y="1850668"/>
            <a:ext cx="2423160" cy="830414"/>
          </a:xfrm>
          <a:prstGeom prst="rect">
            <a:avLst/>
          </a:prstGeom>
          <a:noFill/>
          <a:ln/>
        </p:spPr>
        <p:txBody>
          <a:bodyPr wrap="square" rtlCol="0" anchor="ctr"/>
          <a:lstStyle/>
          <a:p>
            <a:pPr algn="ctr"/>
            <a:r>
              <a:rPr lang="pt-BR" sz="1200" dirty="0">
                <a:solidFill>
                  <a:srgbClr val="475569"/>
                </a:solidFill>
              </a:rPr>
              <a:t>Implementou e treinou a Árvore de Decisão e o KNN, avaliando cada um individualmente com acurácia.</a:t>
            </a:r>
            <a:endParaRPr lang="en-US" sz="1200" dirty="0"/>
          </a:p>
        </p:txBody>
      </p:sp>
      <p:sp>
        <p:nvSpPr>
          <p:cNvPr id="16" name="Shape 2">
            <a:extLst>
              <a:ext uri="{FF2B5EF4-FFF2-40B4-BE49-F238E27FC236}">
                <a16:creationId xmlns:a16="http://schemas.microsoft.com/office/drawing/2014/main" id="{2F3CF83F-C540-4316-A059-22B5A36DDF98}"/>
              </a:ext>
            </a:extLst>
          </p:cNvPr>
          <p:cNvSpPr/>
          <p:nvPr/>
        </p:nvSpPr>
        <p:spPr>
          <a:xfrm>
            <a:off x="289560" y="3205371"/>
            <a:ext cx="2697480" cy="1618090"/>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17" name="Text 4">
            <a:extLst>
              <a:ext uri="{FF2B5EF4-FFF2-40B4-BE49-F238E27FC236}">
                <a16:creationId xmlns:a16="http://schemas.microsoft.com/office/drawing/2014/main" id="{70D0802D-CF50-4E39-990C-DE564D17A1B6}"/>
              </a:ext>
            </a:extLst>
          </p:cNvPr>
          <p:cNvSpPr/>
          <p:nvPr/>
        </p:nvSpPr>
        <p:spPr>
          <a:xfrm>
            <a:off x="472440" y="3209347"/>
            <a:ext cx="2423160" cy="457200"/>
          </a:xfrm>
          <a:prstGeom prst="rect">
            <a:avLst/>
          </a:prstGeom>
          <a:noFill/>
          <a:ln/>
        </p:spPr>
        <p:txBody>
          <a:bodyPr wrap="square" rtlCol="0" anchor="ctr"/>
          <a:lstStyle/>
          <a:p>
            <a:pPr algn="ctr"/>
            <a:r>
              <a:rPr lang="en-US" sz="1400" b="1" dirty="0" err="1">
                <a:solidFill>
                  <a:srgbClr val="1A2444"/>
                </a:solidFill>
              </a:rPr>
              <a:t>Kaique</a:t>
            </a:r>
            <a:r>
              <a:rPr lang="en-US" sz="1400" b="1" dirty="0">
                <a:solidFill>
                  <a:srgbClr val="1A2444"/>
                </a:solidFill>
              </a:rPr>
              <a:t> Santos </a:t>
            </a:r>
            <a:r>
              <a:rPr lang="en-US" sz="1400" b="1" dirty="0" err="1">
                <a:solidFill>
                  <a:srgbClr val="1A2444"/>
                </a:solidFill>
              </a:rPr>
              <a:t>Diniz</a:t>
            </a:r>
            <a:endParaRPr lang="en-US" sz="1400" dirty="0"/>
          </a:p>
        </p:txBody>
      </p:sp>
      <p:sp>
        <p:nvSpPr>
          <p:cNvPr id="18" name="Text 5">
            <a:extLst>
              <a:ext uri="{FF2B5EF4-FFF2-40B4-BE49-F238E27FC236}">
                <a16:creationId xmlns:a16="http://schemas.microsoft.com/office/drawing/2014/main" id="{A7F74E08-E6BE-4260-A800-98BFDCB6A5E0}"/>
              </a:ext>
            </a:extLst>
          </p:cNvPr>
          <p:cNvSpPr/>
          <p:nvPr/>
        </p:nvSpPr>
        <p:spPr>
          <a:xfrm>
            <a:off x="472440" y="3712267"/>
            <a:ext cx="2423160" cy="830414"/>
          </a:xfrm>
          <a:prstGeom prst="rect">
            <a:avLst/>
          </a:prstGeom>
          <a:noFill/>
          <a:ln/>
        </p:spPr>
        <p:txBody>
          <a:bodyPr wrap="square" rtlCol="0" anchor="ctr"/>
          <a:lstStyle/>
          <a:p>
            <a:pPr algn="ctr"/>
            <a:r>
              <a:rPr lang="pt-BR" sz="1200" dirty="0">
                <a:solidFill>
                  <a:srgbClr val="475569"/>
                </a:solidFill>
              </a:rPr>
              <a:t>Implementou a Regressão Logística, construiu o comitê de votação majoritária combinando os três modelos e definiu a lógica de decisão final.</a:t>
            </a:r>
            <a:endParaRPr lang="en-US" sz="1200" dirty="0"/>
          </a:p>
        </p:txBody>
      </p:sp>
      <p:sp>
        <p:nvSpPr>
          <p:cNvPr id="19" name="Shape 6">
            <a:extLst>
              <a:ext uri="{FF2B5EF4-FFF2-40B4-BE49-F238E27FC236}">
                <a16:creationId xmlns:a16="http://schemas.microsoft.com/office/drawing/2014/main" id="{53C70C18-24E0-41BC-A3BD-26704FE5E673}"/>
              </a:ext>
            </a:extLst>
          </p:cNvPr>
          <p:cNvSpPr/>
          <p:nvPr/>
        </p:nvSpPr>
        <p:spPr>
          <a:xfrm>
            <a:off x="3169920" y="3205371"/>
            <a:ext cx="2697480" cy="1618090"/>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20" name="Text 8">
            <a:extLst>
              <a:ext uri="{FF2B5EF4-FFF2-40B4-BE49-F238E27FC236}">
                <a16:creationId xmlns:a16="http://schemas.microsoft.com/office/drawing/2014/main" id="{7645AFAF-9911-43CD-85AF-2C611522785B}"/>
              </a:ext>
            </a:extLst>
          </p:cNvPr>
          <p:cNvSpPr/>
          <p:nvPr/>
        </p:nvSpPr>
        <p:spPr>
          <a:xfrm>
            <a:off x="3307080" y="3209347"/>
            <a:ext cx="2423160" cy="457200"/>
          </a:xfrm>
          <a:prstGeom prst="rect">
            <a:avLst/>
          </a:prstGeom>
          <a:noFill/>
          <a:ln/>
        </p:spPr>
        <p:txBody>
          <a:bodyPr wrap="square" rtlCol="0" anchor="ctr"/>
          <a:lstStyle/>
          <a:p>
            <a:pPr algn="ctr"/>
            <a:r>
              <a:rPr lang="en-US" sz="1400" b="1" dirty="0" err="1">
                <a:solidFill>
                  <a:srgbClr val="1A2444"/>
                </a:solidFill>
              </a:rPr>
              <a:t>Wanderlei</a:t>
            </a:r>
            <a:r>
              <a:rPr lang="en-US" sz="1400" b="1" dirty="0">
                <a:solidFill>
                  <a:srgbClr val="1A2444"/>
                </a:solidFill>
              </a:rPr>
              <a:t> Luis </a:t>
            </a:r>
            <a:r>
              <a:rPr lang="en-US" sz="1400" b="1" dirty="0" err="1">
                <a:solidFill>
                  <a:srgbClr val="1A2444"/>
                </a:solidFill>
              </a:rPr>
              <a:t>Mayta</a:t>
            </a:r>
            <a:r>
              <a:rPr lang="en-US" sz="1400" b="1" dirty="0">
                <a:solidFill>
                  <a:srgbClr val="1A2444"/>
                </a:solidFill>
              </a:rPr>
              <a:t> </a:t>
            </a:r>
            <a:r>
              <a:rPr lang="en-US" sz="1400" b="1" dirty="0" err="1">
                <a:solidFill>
                  <a:srgbClr val="1A2444"/>
                </a:solidFill>
              </a:rPr>
              <a:t>Mamani</a:t>
            </a:r>
            <a:endParaRPr lang="en-US" sz="1400" dirty="0"/>
          </a:p>
        </p:txBody>
      </p:sp>
      <p:sp>
        <p:nvSpPr>
          <p:cNvPr id="21" name="Text 9">
            <a:extLst>
              <a:ext uri="{FF2B5EF4-FFF2-40B4-BE49-F238E27FC236}">
                <a16:creationId xmlns:a16="http://schemas.microsoft.com/office/drawing/2014/main" id="{D1C2CA2B-6760-470C-BC29-061FA05A7254}"/>
              </a:ext>
            </a:extLst>
          </p:cNvPr>
          <p:cNvSpPr/>
          <p:nvPr/>
        </p:nvSpPr>
        <p:spPr>
          <a:xfrm>
            <a:off x="3307080" y="3712267"/>
            <a:ext cx="2423160" cy="830414"/>
          </a:xfrm>
          <a:prstGeom prst="rect">
            <a:avLst/>
          </a:prstGeom>
          <a:noFill/>
          <a:ln/>
        </p:spPr>
        <p:txBody>
          <a:bodyPr wrap="square" rtlCol="0" anchor="ctr"/>
          <a:lstStyle/>
          <a:p>
            <a:pPr algn="ctr"/>
            <a:r>
              <a:rPr lang="pt-BR" sz="1200" dirty="0">
                <a:solidFill>
                  <a:srgbClr val="475569"/>
                </a:solidFill>
              </a:rPr>
              <a:t>Interpretou as métricas de cada modelo, comparou os resultados e elaborou as conclusões sobre o desempenho do comitê.</a:t>
            </a:r>
            <a:endParaRPr lang="en-US" sz="1200" dirty="0"/>
          </a:p>
        </p:txBody>
      </p:sp>
      <p:sp>
        <p:nvSpPr>
          <p:cNvPr id="22" name="Shape 10">
            <a:extLst>
              <a:ext uri="{FF2B5EF4-FFF2-40B4-BE49-F238E27FC236}">
                <a16:creationId xmlns:a16="http://schemas.microsoft.com/office/drawing/2014/main" id="{36DBFBD0-B083-4E79-8384-F9BC052DFB4F}"/>
              </a:ext>
            </a:extLst>
          </p:cNvPr>
          <p:cNvSpPr/>
          <p:nvPr/>
        </p:nvSpPr>
        <p:spPr>
          <a:xfrm>
            <a:off x="6050280" y="3205371"/>
            <a:ext cx="2697480" cy="1618090"/>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23" name="Text 12">
            <a:extLst>
              <a:ext uri="{FF2B5EF4-FFF2-40B4-BE49-F238E27FC236}">
                <a16:creationId xmlns:a16="http://schemas.microsoft.com/office/drawing/2014/main" id="{B25C0853-4519-4A0C-A4A6-5D432FA0AD05}"/>
              </a:ext>
            </a:extLst>
          </p:cNvPr>
          <p:cNvSpPr/>
          <p:nvPr/>
        </p:nvSpPr>
        <p:spPr>
          <a:xfrm>
            <a:off x="6187440" y="3209347"/>
            <a:ext cx="2423160" cy="457200"/>
          </a:xfrm>
          <a:prstGeom prst="rect">
            <a:avLst/>
          </a:prstGeom>
          <a:noFill/>
          <a:ln/>
        </p:spPr>
        <p:txBody>
          <a:bodyPr wrap="square" rtlCol="0" anchor="ctr"/>
          <a:lstStyle/>
          <a:p>
            <a:pPr algn="ctr"/>
            <a:r>
              <a:rPr lang="en-US" sz="1400" b="1" dirty="0">
                <a:solidFill>
                  <a:srgbClr val="1A2444"/>
                </a:solidFill>
              </a:rPr>
              <a:t>Rafaela de Carvalho </a:t>
            </a:r>
            <a:r>
              <a:rPr lang="en-US" sz="1400" b="1" dirty="0" err="1">
                <a:solidFill>
                  <a:srgbClr val="1A2444"/>
                </a:solidFill>
              </a:rPr>
              <a:t>Antar</a:t>
            </a:r>
            <a:endParaRPr lang="en-US" sz="1400" dirty="0"/>
          </a:p>
        </p:txBody>
      </p:sp>
      <p:sp>
        <p:nvSpPr>
          <p:cNvPr id="24" name="Text 13">
            <a:extLst>
              <a:ext uri="{FF2B5EF4-FFF2-40B4-BE49-F238E27FC236}">
                <a16:creationId xmlns:a16="http://schemas.microsoft.com/office/drawing/2014/main" id="{A3F2F9E0-7E4F-4EAA-9556-4E1411D7EDBE}"/>
              </a:ext>
            </a:extLst>
          </p:cNvPr>
          <p:cNvSpPr/>
          <p:nvPr/>
        </p:nvSpPr>
        <p:spPr>
          <a:xfrm>
            <a:off x="6187440" y="3712267"/>
            <a:ext cx="2423160" cy="830414"/>
          </a:xfrm>
          <a:prstGeom prst="rect">
            <a:avLst/>
          </a:prstGeom>
          <a:noFill/>
          <a:ln/>
        </p:spPr>
        <p:txBody>
          <a:bodyPr wrap="square" rtlCol="0" anchor="ctr"/>
          <a:lstStyle/>
          <a:p>
            <a:pPr algn="ctr"/>
            <a:r>
              <a:rPr lang="pt-BR" sz="1200" dirty="0">
                <a:solidFill>
                  <a:srgbClr val="475569"/>
                </a:solidFill>
              </a:rPr>
              <a:t>Organizou e redigiu o relatório em PDF e montou os slides para a apresentação do grupo.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err="1">
                <a:solidFill>
                  <a:srgbClr val="FFFFFF"/>
                </a:solidFill>
              </a:rPr>
              <a:t>Objetivo</a:t>
            </a:r>
            <a:r>
              <a:rPr lang="en-US" sz="2600" b="1" dirty="0">
                <a:solidFill>
                  <a:srgbClr val="FFFFFF"/>
                </a:solidFill>
              </a:rPr>
              <a:t> do </a:t>
            </a:r>
            <a:r>
              <a:rPr lang="en-US" sz="2600" b="1" dirty="0" err="1">
                <a:solidFill>
                  <a:srgbClr val="FFFFFF"/>
                </a:solidFill>
              </a:rPr>
              <a:t>Projeto</a:t>
            </a:r>
            <a:r>
              <a:rPr lang="en-US" sz="2600" b="1" dirty="0">
                <a:solidFill>
                  <a:srgbClr val="FFFFFF"/>
                </a:solidFill>
              </a:rPr>
              <a:t> - </a:t>
            </a:r>
            <a:r>
              <a:rPr lang="en-US" sz="2600" b="1" dirty="0" err="1">
                <a:solidFill>
                  <a:srgbClr val="FFFFFF"/>
                </a:solidFill>
              </a:rPr>
              <a:t>Justificativa</a:t>
            </a:r>
            <a:endParaRPr lang="en-US" sz="2600" dirty="0"/>
          </a:p>
        </p:txBody>
      </p:sp>
      <p:sp>
        <p:nvSpPr>
          <p:cNvPr id="4" name="Shape 2"/>
          <p:cNvSpPr/>
          <p:nvPr/>
        </p:nvSpPr>
        <p:spPr>
          <a:xfrm>
            <a:off x="365760" y="1234440"/>
            <a:ext cx="8247888" cy="3429000"/>
          </a:xfrm>
          <a:prstGeom prst="roundRect">
            <a:avLst>
              <a:gd name="adj" fmla="val 5714"/>
            </a:avLst>
          </a:prstGeom>
          <a:solidFill>
            <a:srgbClr val="FFFFFF"/>
          </a:solidFill>
          <a:ln/>
          <a:effectLst>
            <a:outerShdw blurRad="76200" dist="25400" dir="2700000" algn="bl" rotWithShape="0">
              <a:srgbClr val="000000">
                <a:alpha val="8000"/>
              </a:srgbClr>
            </a:outerShdw>
          </a:effectLst>
        </p:spPr>
      </p:sp>
      <p:sp>
        <p:nvSpPr>
          <p:cNvPr id="16" name="Text 14"/>
          <p:cNvSpPr/>
          <p:nvPr/>
        </p:nvSpPr>
        <p:spPr>
          <a:xfrm>
            <a:off x="5189022" y="3227832"/>
            <a:ext cx="438912" cy="438912"/>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1" name="Text 19"/>
          <p:cNvSpPr/>
          <p:nvPr/>
        </p:nvSpPr>
        <p:spPr>
          <a:xfrm>
            <a:off x="4828032" y="3227832"/>
            <a:ext cx="438912" cy="438912"/>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4" name="Shape 2">
            <a:extLst>
              <a:ext uri="{FF2B5EF4-FFF2-40B4-BE49-F238E27FC236}">
                <a16:creationId xmlns:a16="http://schemas.microsoft.com/office/drawing/2014/main" id="{7F5D47D8-E76C-4FAB-A80B-C0891C36F69E}"/>
              </a:ext>
            </a:extLst>
          </p:cNvPr>
          <p:cNvSpPr/>
          <p:nvPr/>
        </p:nvSpPr>
        <p:spPr>
          <a:xfrm>
            <a:off x="5266944" y="1440778"/>
            <a:ext cx="3049325" cy="2912562"/>
          </a:xfrm>
          <a:prstGeom prst="roundRect">
            <a:avLst>
              <a:gd name="adj" fmla="val 3390"/>
            </a:avLst>
          </a:prstGeom>
          <a:solidFill>
            <a:srgbClr val="FFFFFF"/>
          </a:solidFill>
          <a:ln>
            <a:solidFill>
              <a:schemeClr val="accent1">
                <a:lumMod val="50000"/>
              </a:schemeClr>
            </a:solidFill>
          </a:ln>
          <a:effectLst>
            <a:outerShdw blurRad="101600" dist="38100" dir="2700000" algn="bl" rotWithShape="0">
              <a:srgbClr val="000000">
                <a:alpha val="10000"/>
              </a:srgbClr>
            </a:outerShdw>
          </a:effectLst>
        </p:spPr>
      </p:sp>
      <p:sp>
        <p:nvSpPr>
          <p:cNvPr id="26" name="Text 5">
            <a:extLst>
              <a:ext uri="{FF2B5EF4-FFF2-40B4-BE49-F238E27FC236}">
                <a16:creationId xmlns:a16="http://schemas.microsoft.com/office/drawing/2014/main" id="{685CA066-C664-45E0-B72C-BB2D5734A603}"/>
              </a:ext>
            </a:extLst>
          </p:cNvPr>
          <p:cNvSpPr/>
          <p:nvPr/>
        </p:nvSpPr>
        <p:spPr>
          <a:xfrm>
            <a:off x="5449825" y="1590261"/>
            <a:ext cx="2717358" cy="2613991"/>
          </a:xfrm>
          <a:prstGeom prst="rect">
            <a:avLst/>
          </a:prstGeom>
          <a:noFill/>
          <a:ln/>
        </p:spPr>
        <p:txBody>
          <a:bodyPr wrap="square" rtlCol="0" anchor="ctr"/>
          <a:lstStyle/>
          <a:p>
            <a:pPr marL="171450" indent="-171450">
              <a:buFont typeface="Arial" panose="020B0604020202020204" pitchFamily="34" charset="0"/>
              <a:buChar char="•"/>
            </a:pPr>
            <a:r>
              <a:rPr lang="en-US" sz="1200" dirty="0"/>
              <a:t>A base de dados </a:t>
            </a:r>
            <a:r>
              <a:rPr lang="en-US" sz="1200" dirty="0" err="1"/>
              <a:t>apresenta</a:t>
            </a:r>
            <a:r>
              <a:rPr lang="en-US" sz="1200" dirty="0"/>
              <a:t> um </a:t>
            </a:r>
            <a:r>
              <a:rPr lang="en-US" sz="1200" dirty="0" err="1"/>
              <a:t>problema</a:t>
            </a:r>
            <a:r>
              <a:rPr lang="en-US" sz="1200" dirty="0"/>
              <a:t> </a:t>
            </a:r>
            <a:r>
              <a:rPr lang="en-US" sz="1200" dirty="0" err="1"/>
              <a:t>evidente</a:t>
            </a:r>
            <a:r>
              <a:rPr lang="en-US" sz="1200" dirty="0"/>
              <a:t>, do qual Podemos </a:t>
            </a:r>
            <a:r>
              <a:rPr lang="en-US" sz="1200" dirty="0" err="1"/>
              <a:t>encaixar</a:t>
            </a:r>
            <a:r>
              <a:rPr lang="en-US" sz="1200" dirty="0"/>
              <a:t> </a:t>
            </a:r>
            <a:r>
              <a:rPr lang="en-US" sz="1200" dirty="0" err="1"/>
              <a:t>como</a:t>
            </a:r>
            <a:r>
              <a:rPr lang="en-US" sz="1200" dirty="0"/>
              <a:t> um </a:t>
            </a:r>
            <a:r>
              <a:rPr lang="en-US" sz="1200" dirty="0" err="1"/>
              <a:t>problema</a:t>
            </a:r>
            <a:r>
              <a:rPr lang="en-US" sz="1200" dirty="0"/>
              <a:t> de </a:t>
            </a:r>
            <a:r>
              <a:rPr lang="en-US" sz="1200" dirty="0" err="1"/>
              <a:t>classificação</a:t>
            </a:r>
            <a:r>
              <a:rPr lang="en-US" sz="1200" dirty="0"/>
              <a:t>. </a:t>
            </a:r>
            <a:r>
              <a:rPr lang="en-US" sz="1200" dirty="0" err="1"/>
              <a:t>Ele</a:t>
            </a:r>
            <a:r>
              <a:rPr lang="en-US" sz="1200" dirty="0"/>
              <a:t> é </a:t>
            </a:r>
            <a:r>
              <a:rPr lang="en-US" sz="1200" dirty="0" err="1"/>
              <a:t>prever</a:t>
            </a:r>
            <a:r>
              <a:rPr lang="en-US" sz="1200" dirty="0"/>
              <a:t> o </a:t>
            </a:r>
            <a:r>
              <a:rPr lang="en-US" sz="1200" dirty="0" err="1"/>
              <a:t>nivel</a:t>
            </a:r>
            <a:r>
              <a:rPr lang="en-US" sz="1200" dirty="0"/>
              <a:t> de burnout dos </a:t>
            </a:r>
            <a:r>
              <a:rPr lang="en-US" sz="1200" dirty="0" err="1"/>
              <a:t>empregados</a:t>
            </a:r>
            <a:r>
              <a:rPr lang="en-US" sz="1200" dirty="0"/>
              <a:t>, </a:t>
            </a:r>
            <a:r>
              <a:rPr lang="en-US" sz="1200" dirty="0" err="1"/>
              <a:t>dividindo-os</a:t>
            </a:r>
            <a:r>
              <a:rPr lang="en-US" sz="1200" dirty="0"/>
              <a:t> </a:t>
            </a:r>
            <a:r>
              <a:rPr lang="en-US" sz="1200" dirty="0" err="1"/>
              <a:t>em</a:t>
            </a:r>
            <a:r>
              <a:rPr lang="en-US" sz="1200" dirty="0"/>
              <a:t> </a:t>
            </a:r>
            <a:r>
              <a:rPr lang="en-US" sz="1200" dirty="0" err="1"/>
              <a:t>Baixo</a:t>
            </a:r>
            <a:r>
              <a:rPr lang="en-US" sz="1200" dirty="0"/>
              <a:t>, </a:t>
            </a:r>
            <a:r>
              <a:rPr lang="en-US" sz="1200" dirty="0" err="1"/>
              <a:t>Moderado</a:t>
            </a:r>
            <a:r>
              <a:rPr lang="en-US" sz="1200" dirty="0"/>
              <a:t> e Alto.</a:t>
            </a:r>
          </a:p>
          <a:p>
            <a:endParaRPr lang="en-US" sz="1200" dirty="0"/>
          </a:p>
          <a:p>
            <a:pPr marL="171450" indent="-171450">
              <a:buFont typeface="Arial" panose="020B0604020202020204" pitchFamily="34" charset="0"/>
              <a:buChar char="•"/>
            </a:pPr>
            <a:r>
              <a:rPr lang="en-US" sz="1200" dirty="0"/>
              <a:t>Outro </a:t>
            </a:r>
            <a:r>
              <a:rPr lang="en-US" sz="1200" dirty="0" err="1"/>
              <a:t>motivo</a:t>
            </a:r>
            <a:r>
              <a:rPr lang="en-US" sz="1200" dirty="0"/>
              <a:t> é pela </a:t>
            </a:r>
            <a:r>
              <a:rPr lang="en-US" sz="1200" dirty="0" err="1"/>
              <a:t>evidência</a:t>
            </a:r>
            <a:r>
              <a:rPr lang="en-US" sz="1200" dirty="0"/>
              <a:t> que o </a:t>
            </a:r>
            <a:r>
              <a:rPr lang="en-US" sz="1200" dirty="0" err="1"/>
              <a:t>tema</a:t>
            </a:r>
            <a:r>
              <a:rPr lang="en-US" sz="1200" dirty="0"/>
              <a:t> “</a:t>
            </a:r>
            <a:r>
              <a:rPr lang="en-US" sz="1200" dirty="0" err="1"/>
              <a:t>Saúde</a:t>
            </a:r>
            <a:r>
              <a:rPr lang="en-US" sz="1200" dirty="0"/>
              <a:t> Mental” </a:t>
            </a:r>
            <a:r>
              <a:rPr lang="en-US" sz="1200" dirty="0" err="1"/>
              <a:t>tem</a:t>
            </a:r>
            <a:r>
              <a:rPr lang="en-US" sz="1200" dirty="0"/>
              <a:t> </a:t>
            </a:r>
            <a:r>
              <a:rPr lang="en-US" sz="1200" dirty="0" err="1"/>
              <a:t>recebido</a:t>
            </a:r>
            <a:r>
              <a:rPr lang="en-US" sz="1200" dirty="0"/>
              <a:t> </a:t>
            </a:r>
            <a:r>
              <a:rPr lang="en-US" sz="1200" dirty="0" err="1"/>
              <a:t>nos</a:t>
            </a:r>
            <a:r>
              <a:rPr lang="en-US" sz="1200" dirty="0"/>
              <a:t> </a:t>
            </a:r>
            <a:r>
              <a:rPr lang="en-US" sz="1200" dirty="0" err="1"/>
              <a:t>ultimos</a:t>
            </a:r>
            <a:r>
              <a:rPr lang="en-US" sz="1200" dirty="0"/>
              <a:t> tempos, e por </a:t>
            </a:r>
            <a:r>
              <a:rPr lang="en-US" sz="1200" dirty="0" err="1"/>
              <a:t>isso</a:t>
            </a:r>
            <a:r>
              <a:rPr lang="en-US" sz="1200" dirty="0"/>
              <a:t>, </a:t>
            </a:r>
            <a:r>
              <a:rPr lang="en-US" sz="1200" dirty="0" err="1"/>
              <a:t>queriamos</a:t>
            </a:r>
            <a:r>
              <a:rPr lang="en-US" sz="1200" dirty="0"/>
              <a:t> </a:t>
            </a:r>
            <a:r>
              <a:rPr lang="en-US" sz="1200" dirty="0" err="1"/>
              <a:t>descobrir</a:t>
            </a:r>
            <a:r>
              <a:rPr lang="en-US" sz="1200" dirty="0"/>
              <a:t> </a:t>
            </a:r>
            <a:r>
              <a:rPr lang="en-US" sz="1200" dirty="0" err="1"/>
              <a:t>quais</a:t>
            </a:r>
            <a:r>
              <a:rPr lang="en-US" sz="1200" dirty="0"/>
              <a:t> </a:t>
            </a:r>
            <a:r>
              <a:rPr lang="en-US" sz="1200" dirty="0" err="1"/>
              <a:t>variáveis</a:t>
            </a:r>
            <a:r>
              <a:rPr lang="en-US" sz="1200" dirty="0"/>
              <a:t> </a:t>
            </a:r>
            <a:r>
              <a:rPr lang="en-US" sz="1200" dirty="0" err="1"/>
              <a:t>podem</a:t>
            </a:r>
            <a:r>
              <a:rPr lang="en-US" sz="1200" dirty="0"/>
              <a:t> </a:t>
            </a:r>
            <a:r>
              <a:rPr lang="en-US" sz="1200" dirty="0" err="1"/>
              <a:t>levar</a:t>
            </a:r>
            <a:r>
              <a:rPr lang="en-US" sz="1200" dirty="0"/>
              <a:t> a um burnout entre </a:t>
            </a:r>
            <a:r>
              <a:rPr lang="en-US" sz="1200" dirty="0" err="1"/>
              <a:t>pessoas</a:t>
            </a:r>
            <a:r>
              <a:rPr lang="en-US" sz="1200" dirty="0"/>
              <a:t> que </a:t>
            </a:r>
            <a:r>
              <a:rPr lang="en-US" sz="1200" dirty="0" err="1"/>
              <a:t>trabalham</a:t>
            </a:r>
            <a:r>
              <a:rPr lang="en-US" sz="1200" dirty="0"/>
              <a:t> </a:t>
            </a:r>
            <a:r>
              <a:rPr lang="en-US" sz="1200" dirty="0" err="1"/>
              <a:t>em</a:t>
            </a:r>
            <a:r>
              <a:rPr lang="en-US" sz="1200" dirty="0"/>
              <a:t> TI.</a:t>
            </a:r>
          </a:p>
        </p:txBody>
      </p:sp>
      <p:pic>
        <p:nvPicPr>
          <p:cNvPr id="5" name="Imagem 4">
            <a:extLst>
              <a:ext uri="{FF2B5EF4-FFF2-40B4-BE49-F238E27FC236}">
                <a16:creationId xmlns:a16="http://schemas.microsoft.com/office/drawing/2014/main" id="{5D1D46D6-8C5C-43A1-A6F7-7E773C59D949}"/>
              </a:ext>
            </a:extLst>
          </p:cNvPr>
          <p:cNvPicPr>
            <a:picLocks noChangeAspect="1"/>
          </p:cNvPicPr>
          <p:nvPr/>
        </p:nvPicPr>
        <p:blipFill>
          <a:blip r:embed="rId3"/>
          <a:stretch>
            <a:fillRect/>
          </a:stretch>
        </p:blipFill>
        <p:spPr>
          <a:xfrm>
            <a:off x="585745" y="2187566"/>
            <a:ext cx="4382160" cy="1418986"/>
          </a:xfrm>
          <a:prstGeom prst="rect">
            <a:avLst/>
          </a:prstGeom>
          <a:ln>
            <a:solidFill>
              <a:srgbClr val="1A2444"/>
            </a:solidFill>
          </a:ln>
        </p:spPr>
      </p:pic>
    </p:spTree>
    <p:extLst>
      <p:ext uri="{BB962C8B-B14F-4D97-AF65-F5344CB8AC3E}">
        <p14:creationId xmlns:p14="http://schemas.microsoft.com/office/powerpoint/2010/main" val="4000115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r>
              <a:rPr lang="en-US" sz="2600" b="1" dirty="0">
                <a:solidFill>
                  <a:srgbClr val="FFFFFF"/>
                </a:solidFill>
              </a:rPr>
              <a:t>Base de Dados - Target e Features</a:t>
            </a:r>
            <a:endParaRPr lang="en-US" sz="2600" dirty="0"/>
          </a:p>
        </p:txBody>
      </p:sp>
      <p:sp>
        <p:nvSpPr>
          <p:cNvPr id="7" name="Text 5"/>
          <p:cNvSpPr/>
          <p:nvPr/>
        </p:nvSpPr>
        <p:spPr>
          <a:xfrm>
            <a:off x="343895" y="1516406"/>
            <a:ext cx="3977640" cy="594360"/>
          </a:xfrm>
          <a:prstGeom prst="rect">
            <a:avLst/>
          </a:prstGeom>
          <a:noFill/>
          <a:ln/>
        </p:spPr>
        <p:txBody>
          <a:bodyPr wrap="square" rtlCol="0" anchor="ctr"/>
          <a:lstStyle/>
          <a:p>
            <a:pPr marL="0" indent="0" algn="ctr">
              <a:buNone/>
            </a:pPr>
            <a:r>
              <a:rPr lang="en-US" sz="2200" b="1" dirty="0">
                <a:solidFill>
                  <a:schemeClr val="bg1"/>
                </a:solidFill>
              </a:rPr>
              <a:t>Target</a:t>
            </a:r>
            <a:endParaRPr lang="en-US" sz="2200" dirty="0">
              <a:solidFill>
                <a:schemeClr val="bg1"/>
              </a:solidFill>
            </a:endParaRPr>
          </a:p>
        </p:txBody>
      </p:sp>
      <p:sp>
        <p:nvSpPr>
          <p:cNvPr id="17" name="Text 5">
            <a:extLst>
              <a:ext uri="{FF2B5EF4-FFF2-40B4-BE49-F238E27FC236}">
                <a16:creationId xmlns:a16="http://schemas.microsoft.com/office/drawing/2014/main" id="{02C903D9-D09D-45ED-96F7-AE6EF960ED4A}"/>
              </a:ext>
            </a:extLst>
          </p:cNvPr>
          <p:cNvSpPr/>
          <p:nvPr/>
        </p:nvSpPr>
        <p:spPr>
          <a:xfrm>
            <a:off x="4848311" y="1514418"/>
            <a:ext cx="3977640" cy="594360"/>
          </a:xfrm>
          <a:prstGeom prst="rect">
            <a:avLst/>
          </a:prstGeom>
          <a:noFill/>
          <a:ln/>
        </p:spPr>
        <p:txBody>
          <a:bodyPr wrap="square" rtlCol="0" anchor="ctr"/>
          <a:lstStyle/>
          <a:p>
            <a:pPr marL="0" indent="0" algn="ctr">
              <a:buNone/>
            </a:pPr>
            <a:r>
              <a:rPr lang="en-US" sz="2200" b="1" dirty="0">
                <a:solidFill>
                  <a:schemeClr val="bg1"/>
                </a:solidFill>
              </a:rPr>
              <a:t>Features</a:t>
            </a:r>
            <a:endParaRPr lang="en-US" sz="2200" dirty="0">
              <a:solidFill>
                <a:schemeClr val="bg1"/>
              </a:solidFill>
            </a:endParaRPr>
          </a:p>
        </p:txBody>
      </p:sp>
      <p:sp>
        <p:nvSpPr>
          <p:cNvPr id="18" name="Shape 2">
            <a:extLst>
              <a:ext uri="{FF2B5EF4-FFF2-40B4-BE49-F238E27FC236}">
                <a16:creationId xmlns:a16="http://schemas.microsoft.com/office/drawing/2014/main" id="{EFB218D8-73DE-4D9B-B274-1B68EA6F9279}"/>
              </a:ext>
            </a:extLst>
          </p:cNvPr>
          <p:cNvSpPr/>
          <p:nvPr/>
        </p:nvSpPr>
        <p:spPr>
          <a:xfrm>
            <a:off x="274320" y="1521375"/>
            <a:ext cx="3977640" cy="3110260"/>
          </a:xfrm>
          <a:prstGeom prst="roundRect">
            <a:avLst>
              <a:gd name="adj" fmla="val 3390"/>
            </a:avLst>
          </a:prstGeom>
          <a:solidFill>
            <a:srgbClr val="FFFFFF"/>
          </a:solidFill>
          <a:ln>
            <a:solidFill>
              <a:srgbClr val="1A2444"/>
            </a:solidFill>
          </a:ln>
          <a:effectLst>
            <a:outerShdw blurRad="101600" dist="38100" dir="2700000" algn="bl" rotWithShape="0">
              <a:srgbClr val="000000">
                <a:alpha val="10000"/>
              </a:srgbClr>
            </a:outerShdw>
          </a:effectLst>
        </p:spPr>
      </p:sp>
      <p:sp>
        <p:nvSpPr>
          <p:cNvPr id="19" name="Text 5">
            <a:extLst>
              <a:ext uri="{FF2B5EF4-FFF2-40B4-BE49-F238E27FC236}">
                <a16:creationId xmlns:a16="http://schemas.microsoft.com/office/drawing/2014/main" id="{B9747A64-CD02-4776-A2E0-54287D341847}"/>
              </a:ext>
            </a:extLst>
          </p:cNvPr>
          <p:cNvSpPr/>
          <p:nvPr/>
        </p:nvSpPr>
        <p:spPr>
          <a:xfrm>
            <a:off x="252455" y="1521375"/>
            <a:ext cx="3977640" cy="594360"/>
          </a:xfrm>
          <a:prstGeom prst="rect">
            <a:avLst/>
          </a:prstGeom>
          <a:noFill/>
          <a:ln/>
        </p:spPr>
        <p:txBody>
          <a:bodyPr wrap="square" rtlCol="0" anchor="ctr"/>
          <a:lstStyle/>
          <a:p>
            <a:pPr marL="0" indent="0" algn="ctr">
              <a:buNone/>
            </a:pPr>
            <a:r>
              <a:rPr lang="en-US" sz="2200" b="1" dirty="0">
                <a:solidFill>
                  <a:srgbClr val="1A2444"/>
                </a:solidFill>
              </a:rPr>
              <a:t>Target</a:t>
            </a:r>
          </a:p>
        </p:txBody>
      </p:sp>
      <p:sp>
        <p:nvSpPr>
          <p:cNvPr id="20" name="Text 5">
            <a:extLst>
              <a:ext uri="{FF2B5EF4-FFF2-40B4-BE49-F238E27FC236}">
                <a16:creationId xmlns:a16="http://schemas.microsoft.com/office/drawing/2014/main" id="{82210DD4-699F-41DC-93D5-09B7892AF28A}"/>
              </a:ext>
            </a:extLst>
          </p:cNvPr>
          <p:cNvSpPr/>
          <p:nvPr/>
        </p:nvSpPr>
        <p:spPr>
          <a:xfrm>
            <a:off x="4909933" y="1518890"/>
            <a:ext cx="3977640" cy="594360"/>
          </a:xfrm>
          <a:prstGeom prst="rect">
            <a:avLst/>
          </a:prstGeom>
          <a:noFill/>
          <a:ln/>
        </p:spPr>
        <p:txBody>
          <a:bodyPr wrap="square" rtlCol="0" anchor="ctr"/>
          <a:lstStyle/>
          <a:p>
            <a:pPr marL="0" indent="0" algn="ctr">
              <a:buNone/>
            </a:pPr>
            <a:r>
              <a:rPr lang="en-US" sz="2200" b="1" dirty="0">
                <a:solidFill>
                  <a:schemeClr val="bg1"/>
                </a:solidFill>
              </a:rPr>
              <a:t>Target</a:t>
            </a:r>
            <a:endParaRPr lang="en-US" sz="2200" dirty="0">
              <a:solidFill>
                <a:schemeClr val="bg1"/>
              </a:solidFill>
            </a:endParaRPr>
          </a:p>
        </p:txBody>
      </p:sp>
      <p:sp>
        <p:nvSpPr>
          <p:cNvPr id="22" name="Shape 2">
            <a:extLst>
              <a:ext uri="{FF2B5EF4-FFF2-40B4-BE49-F238E27FC236}">
                <a16:creationId xmlns:a16="http://schemas.microsoft.com/office/drawing/2014/main" id="{4AAB978B-5DF0-45C4-A161-FBF087258047}"/>
              </a:ext>
            </a:extLst>
          </p:cNvPr>
          <p:cNvSpPr/>
          <p:nvPr/>
        </p:nvSpPr>
        <p:spPr>
          <a:xfrm>
            <a:off x="4840357" y="1516406"/>
            <a:ext cx="4007457" cy="3117618"/>
          </a:xfrm>
          <a:prstGeom prst="roundRect">
            <a:avLst>
              <a:gd name="adj" fmla="val 3390"/>
            </a:avLst>
          </a:prstGeom>
          <a:solidFill>
            <a:srgbClr val="FFFFFF"/>
          </a:solidFill>
          <a:ln>
            <a:solidFill>
              <a:srgbClr val="1A2444"/>
            </a:solidFill>
          </a:ln>
          <a:effectLst>
            <a:outerShdw blurRad="101600" dist="38100" dir="2700000" algn="bl" rotWithShape="0">
              <a:srgbClr val="000000">
                <a:alpha val="10000"/>
              </a:srgbClr>
            </a:outerShdw>
          </a:effectLst>
        </p:spPr>
      </p:sp>
      <p:sp>
        <p:nvSpPr>
          <p:cNvPr id="23" name="Text 5">
            <a:extLst>
              <a:ext uri="{FF2B5EF4-FFF2-40B4-BE49-F238E27FC236}">
                <a16:creationId xmlns:a16="http://schemas.microsoft.com/office/drawing/2014/main" id="{BA6DB4BD-C74F-4D6A-91A2-166BC555186B}"/>
              </a:ext>
            </a:extLst>
          </p:cNvPr>
          <p:cNvSpPr/>
          <p:nvPr/>
        </p:nvSpPr>
        <p:spPr>
          <a:xfrm>
            <a:off x="4818493" y="1523859"/>
            <a:ext cx="3977640" cy="594360"/>
          </a:xfrm>
          <a:prstGeom prst="rect">
            <a:avLst/>
          </a:prstGeom>
          <a:noFill/>
          <a:ln/>
        </p:spPr>
        <p:txBody>
          <a:bodyPr wrap="square" rtlCol="0" anchor="ctr"/>
          <a:lstStyle/>
          <a:p>
            <a:pPr marL="0" indent="0" algn="ctr">
              <a:buNone/>
            </a:pPr>
            <a:r>
              <a:rPr lang="en-US" sz="2200" b="1" dirty="0">
                <a:solidFill>
                  <a:srgbClr val="1A2444"/>
                </a:solidFill>
              </a:rPr>
              <a:t>Features</a:t>
            </a:r>
          </a:p>
        </p:txBody>
      </p:sp>
      <p:pic>
        <p:nvPicPr>
          <p:cNvPr id="24" name="Imagem 23">
            <a:extLst>
              <a:ext uri="{FF2B5EF4-FFF2-40B4-BE49-F238E27FC236}">
                <a16:creationId xmlns:a16="http://schemas.microsoft.com/office/drawing/2014/main" id="{336205A5-BD83-4F04-8E09-AD0978FBCED3}"/>
              </a:ext>
            </a:extLst>
          </p:cNvPr>
          <p:cNvPicPr>
            <a:picLocks noChangeAspect="1"/>
          </p:cNvPicPr>
          <p:nvPr/>
        </p:nvPicPr>
        <p:blipFill>
          <a:blip r:embed="rId3"/>
          <a:stretch>
            <a:fillRect/>
          </a:stretch>
        </p:blipFill>
        <p:spPr>
          <a:xfrm>
            <a:off x="454300" y="2372968"/>
            <a:ext cx="1647415" cy="1749221"/>
          </a:xfrm>
          <a:prstGeom prst="rect">
            <a:avLst/>
          </a:prstGeom>
        </p:spPr>
      </p:pic>
      <p:sp>
        <p:nvSpPr>
          <p:cNvPr id="25" name="Text 5">
            <a:extLst>
              <a:ext uri="{FF2B5EF4-FFF2-40B4-BE49-F238E27FC236}">
                <a16:creationId xmlns:a16="http://schemas.microsoft.com/office/drawing/2014/main" id="{62290547-2D80-4CCE-9624-19547AB6A78B}"/>
              </a:ext>
            </a:extLst>
          </p:cNvPr>
          <p:cNvSpPr/>
          <p:nvPr/>
        </p:nvSpPr>
        <p:spPr>
          <a:xfrm>
            <a:off x="2213239" y="2372969"/>
            <a:ext cx="1927197" cy="1749220"/>
          </a:xfrm>
          <a:prstGeom prst="rect">
            <a:avLst/>
          </a:prstGeom>
          <a:noFill/>
          <a:ln/>
        </p:spPr>
        <p:txBody>
          <a:bodyPr wrap="square" rtlCol="0" anchor="ctr"/>
          <a:lstStyle/>
          <a:p>
            <a:pPr algn="ctr"/>
            <a:r>
              <a:rPr lang="pt-BR" sz="1200" dirty="0">
                <a:solidFill>
                  <a:srgbClr val="475569"/>
                </a:solidFill>
              </a:rPr>
              <a:t>A variável Target escolhida foi a “</a:t>
            </a:r>
            <a:r>
              <a:rPr lang="pt-BR" sz="1200" dirty="0" err="1">
                <a:solidFill>
                  <a:srgbClr val="475569"/>
                </a:solidFill>
              </a:rPr>
              <a:t>burnout_level</a:t>
            </a:r>
            <a:r>
              <a:rPr lang="pt-BR" sz="1200" dirty="0">
                <a:solidFill>
                  <a:srgbClr val="475569"/>
                </a:solidFill>
              </a:rPr>
              <a:t>”, pois ela divide os diferentes níveis de </a:t>
            </a:r>
            <a:r>
              <a:rPr lang="pt-BR" sz="1200" dirty="0" err="1">
                <a:solidFill>
                  <a:srgbClr val="475569"/>
                </a:solidFill>
              </a:rPr>
              <a:t>Burnout</a:t>
            </a:r>
            <a:r>
              <a:rPr lang="pt-BR" sz="1200" dirty="0">
                <a:solidFill>
                  <a:srgbClr val="475569"/>
                </a:solidFill>
              </a:rPr>
              <a:t>, encaixando a base de dados em um problema de classificação.</a:t>
            </a:r>
            <a:endParaRPr lang="en-US" sz="1200" dirty="0"/>
          </a:p>
        </p:txBody>
      </p:sp>
      <p:pic>
        <p:nvPicPr>
          <p:cNvPr id="26" name="Imagem 25">
            <a:extLst>
              <a:ext uri="{FF2B5EF4-FFF2-40B4-BE49-F238E27FC236}">
                <a16:creationId xmlns:a16="http://schemas.microsoft.com/office/drawing/2014/main" id="{017E758C-F4F1-409A-AB78-F623507C63F9}"/>
              </a:ext>
            </a:extLst>
          </p:cNvPr>
          <p:cNvPicPr>
            <a:picLocks noChangeAspect="1"/>
          </p:cNvPicPr>
          <p:nvPr/>
        </p:nvPicPr>
        <p:blipFill>
          <a:blip r:embed="rId4"/>
          <a:stretch>
            <a:fillRect/>
          </a:stretch>
        </p:blipFill>
        <p:spPr>
          <a:xfrm>
            <a:off x="5025270" y="2372968"/>
            <a:ext cx="1666875" cy="1742569"/>
          </a:xfrm>
          <a:prstGeom prst="rect">
            <a:avLst/>
          </a:prstGeom>
        </p:spPr>
      </p:pic>
      <p:sp>
        <p:nvSpPr>
          <p:cNvPr id="27" name="Text 5">
            <a:extLst>
              <a:ext uri="{FF2B5EF4-FFF2-40B4-BE49-F238E27FC236}">
                <a16:creationId xmlns:a16="http://schemas.microsoft.com/office/drawing/2014/main" id="{062E44C2-DE14-4869-9E46-29274C714732}"/>
              </a:ext>
            </a:extLst>
          </p:cNvPr>
          <p:cNvSpPr/>
          <p:nvPr/>
        </p:nvSpPr>
        <p:spPr>
          <a:xfrm>
            <a:off x="6806381" y="2372969"/>
            <a:ext cx="1927197" cy="1749220"/>
          </a:xfrm>
          <a:prstGeom prst="rect">
            <a:avLst/>
          </a:prstGeom>
          <a:noFill/>
          <a:ln/>
        </p:spPr>
        <p:txBody>
          <a:bodyPr wrap="square" rtlCol="0" anchor="ctr"/>
          <a:lstStyle/>
          <a:p>
            <a:pPr algn="ctr"/>
            <a:r>
              <a:rPr lang="pt-BR" sz="1200" dirty="0">
                <a:solidFill>
                  <a:srgbClr val="475569"/>
                </a:solidFill>
              </a:rPr>
              <a:t>Todas as variáveis foram utilizadas como </a:t>
            </a:r>
            <a:r>
              <a:rPr lang="pt-BR" sz="1200" dirty="0" err="1">
                <a:solidFill>
                  <a:srgbClr val="475569"/>
                </a:solidFill>
              </a:rPr>
              <a:t>Feature</a:t>
            </a:r>
            <a:r>
              <a:rPr lang="pt-BR" sz="1200" dirty="0">
                <a:solidFill>
                  <a:srgbClr val="475569"/>
                </a:solidFill>
              </a:rPr>
              <a:t>, permitindo que o algoritmo utilize quais informações ele considerar útil, com exceção da variável “</a:t>
            </a:r>
            <a:r>
              <a:rPr lang="pt-BR" sz="1200" dirty="0" err="1">
                <a:solidFill>
                  <a:srgbClr val="475569"/>
                </a:solidFill>
              </a:rPr>
              <a:t>burnout_score</a:t>
            </a:r>
            <a:r>
              <a:rPr lang="pt-BR" sz="1200" dirty="0">
                <a:solidFill>
                  <a:srgbClr val="475569"/>
                </a:solidFill>
              </a:rPr>
              <a:t>”.</a:t>
            </a:r>
            <a:endParaRPr lang="en-US" sz="1200" dirty="0"/>
          </a:p>
        </p:txBody>
      </p:sp>
    </p:spTree>
    <p:extLst>
      <p:ext uri="{BB962C8B-B14F-4D97-AF65-F5344CB8AC3E}">
        <p14:creationId xmlns:p14="http://schemas.microsoft.com/office/powerpoint/2010/main" val="2274250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r>
              <a:rPr lang="en-US" sz="2600" b="1" dirty="0">
                <a:solidFill>
                  <a:srgbClr val="FFFFFF"/>
                </a:solidFill>
              </a:rPr>
              <a:t>Base de Dados - </a:t>
            </a:r>
            <a:r>
              <a:rPr lang="en-US" sz="2600" b="1" dirty="0" err="1">
                <a:solidFill>
                  <a:srgbClr val="FFFFFF"/>
                </a:solidFill>
              </a:rPr>
              <a:t>Pré-Processamento</a:t>
            </a:r>
            <a:endParaRPr lang="en-US" sz="2600" dirty="0"/>
          </a:p>
        </p:txBody>
      </p:sp>
      <p:sp>
        <p:nvSpPr>
          <p:cNvPr id="7" name="Text 5"/>
          <p:cNvSpPr/>
          <p:nvPr/>
        </p:nvSpPr>
        <p:spPr>
          <a:xfrm>
            <a:off x="365760" y="1302026"/>
            <a:ext cx="3977640" cy="594360"/>
          </a:xfrm>
          <a:prstGeom prst="rect">
            <a:avLst/>
          </a:prstGeom>
          <a:noFill/>
          <a:ln/>
        </p:spPr>
        <p:txBody>
          <a:bodyPr wrap="square" rtlCol="0" anchor="ctr"/>
          <a:lstStyle/>
          <a:p>
            <a:pPr marL="0" indent="0" algn="ctr">
              <a:buNone/>
            </a:pPr>
            <a:r>
              <a:rPr lang="en-US" sz="2200" b="1" dirty="0">
                <a:solidFill>
                  <a:schemeClr val="bg1"/>
                </a:solidFill>
              </a:rPr>
              <a:t>Target</a:t>
            </a:r>
            <a:endParaRPr lang="en-US" sz="2200" dirty="0">
              <a:solidFill>
                <a:schemeClr val="bg1"/>
              </a:solidFill>
            </a:endParaRPr>
          </a:p>
        </p:txBody>
      </p:sp>
      <p:sp>
        <p:nvSpPr>
          <p:cNvPr id="8" name="Text 6"/>
          <p:cNvSpPr/>
          <p:nvPr/>
        </p:nvSpPr>
        <p:spPr>
          <a:xfrm>
            <a:off x="1783080" y="2834640"/>
            <a:ext cx="2468880" cy="1188720"/>
          </a:xfrm>
          <a:prstGeom prst="rect">
            <a:avLst/>
          </a:prstGeom>
          <a:noFill/>
          <a:ln/>
        </p:spPr>
        <p:txBody>
          <a:bodyPr wrap="square" rtlCol="0" anchor="t"/>
          <a:lstStyle/>
          <a:p>
            <a:pPr marL="0" indent="0" algn="ctr">
              <a:buNone/>
            </a:pPr>
            <a:r>
              <a:rPr lang="en-US" sz="1200" dirty="0">
                <a:solidFill>
                  <a:srgbClr val="0F172A"/>
                </a:solidFill>
              </a:rPr>
              <a:t>Risco alto de burnout</a:t>
            </a:r>
            <a:endParaRPr lang="en-US" sz="1200" dirty="0"/>
          </a:p>
          <a:p>
            <a:pPr marL="0" indent="0" algn="ctr">
              <a:buNone/>
            </a:pPr>
            <a:r>
              <a:rPr lang="en-US" sz="1200" dirty="0">
                <a:solidFill>
                  <a:srgbClr val="0F172A"/>
                </a:solidFill>
              </a:rPr>
              <a:t>Alerta para gestores</a:t>
            </a:r>
            <a:endParaRPr lang="en-US" sz="1200" dirty="0"/>
          </a:p>
        </p:txBody>
      </p:sp>
      <p:sp>
        <p:nvSpPr>
          <p:cNvPr id="17" name="Text 5">
            <a:extLst>
              <a:ext uri="{FF2B5EF4-FFF2-40B4-BE49-F238E27FC236}">
                <a16:creationId xmlns:a16="http://schemas.microsoft.com/office/drawing/2014/main" id="{02C903D9-D09D-45ED-96F7-AE6EF960ED4A}"/>
              </a:ext>
            </a:extLst>
          </p:cNvPr>
          <p:cNvSpPr/>
          <p:nvPr/>
        </p:nvSpPr>
        <p:spPr>
          <a:xfrm>
            <a:off x="4870176" y="1300038"/>
            <a:ext cx="3977640" cy="594360"/>
          </a:xfrm>
          <a:prstGeom prst="rect">
            <a:avLst/>
          </a:prstGeom>
          <a:noFill/>
          <a:ln/>
        </p:spPr>
        <p:txBody>
          <a:bodyPr wrap="square" rtlCol="0" anchor="ctr"/>
          <a:lstStyle/>
          <a:p>
            <a:pPr marL="0" indent="0" algn="ctr">
              <a:buNone/>
            </a:pPr>
            <a:r>
              <a:rPr lang="en-US" sz="2200" b="1" dirty="0">
                <a:solidFill>
                  <a:schemeClr val="bg1"/>
                </a:solidFill>
              </a:rPr>
              <a:t>Features</a:t>
            </a:r>
            <a:endParaRPr lang="en-US" sz="2200" dirty="0">
              <a:solidFill>
                <a:schemeClr val="bg1"/>
              </a:solidFill>
            </a:endParaRPr>
          </a:p>
        </p:txBody>
      </p:sp>
      <p:sp>
        <p:nvSpPr>
          <p:cNvPr id="18" name="Shape 2">
            <a:extLst>
              <a:ext uri="{FF2B5EF4-FFF2-40B4-BE49-F238E27FC236}">
                <a16:creationId xmlns:a16="http://schemas.microsoft.com/office/drawing/2014/main" id="{EFB218D8-73DE-4D9B-B274-1B68EA6F9279}"/>
              </a:ext>
            </a:extLst>
          </p:cNvPr>
          <p:cNvSpPr/>
          <p:nvPr/>
        </p:nvSpPr>
        <p:spPr>
          <a:xfrm>
            <a:off x="296185" y="1306995"/>
            <a:ext cx="3977640" cy="3150704"/>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19" name="Text 5">
            <a:extLst>
              <a:ext uri="{FF2B5EF4-FFF2-40B4-BE49-F238E27FC236}">
                <a16:creationId xmlns:a16="http://schemas.microsoft.com/office/drawing/2014/main" id="{B9747A64-CD02-4776-A2E0-54287D341847}"/>
              </a:ext>
            </a:extLst>
          </p:cNvPr>
          <p:cNvSpPr/>
          <p:nvPr/>
        </p:nvSpPr>
        <p:spPr>
          <a:xfrm>
            <a:off x="274320" y="1505775"/>
            <a:ext cx="3977640" cy="594360"/>
          </a:xfrm>
          <a:prstGeom prst="rect">
            <a:avLst/>
          </a:prstGeom>
          <a:noFill/>
          <a:ln/>
        </p:spPr>
        <p:txBody>
          <a:bodyPr wrap="square" rtlCol="0" anchor="ctr"/>
          <a:lstStyle/>
          <a:p>
            <a:pPr marL="0" indent="0" algn="ctr">
              <a:buNone/>
            </a:pPr>
            <a:r>
              <a:rPr lang="en-US" sz="2200" b="1" dirty="0">
                <a:solidFill>
                  <a:srgbClr val="1A2444"/>
                </a:solidFill>
              </a:rPr>
              <a:t>Dados </a:t>
            </a:r>
            <a:r>
              <a:rPr lang="en-US" sz="2200" b="1" dirty="0" err="1">
                <a:solidFill>
                  <a:srgbClr val="1A2444"/>
                </a:solidFill>
              </a:rPr>
              <a:t>Categóricos</a:t>
            </a:r>
            <a:r>
              <a:rPr lang="en-US" sz="2200" b="1" dirty="0">
                <a:solidFill>
                  <a:srgbClr val="1A2444"/>
                </a:solidFill>
              </a:rPr>
              <a:t> para </a:t>
            </a:r>
            <a:r>
              <a:rPr lang="en-US" sz="2200" b="1" dirty="0" err="1">
                <a:solidFill>
                  <a:srgbClr val="1A2444"/>
                </a:solidFill>
              </a:rPr>
              <a:t>Numéricos</a:t>
            </a:r>
            <a:endParaRPr lang="en-US" sz="2200" b="1" dirty="0">
              <a:solidFill>
                <a:srgbClr val="1A2444"/>
              </a:solidFill>
            </a:endParaRPr>
          </a:p>
        </p:txBody>
      </p:sp>
      <p:sp>
        <p:nvSpPr>
          <p:cNvPr id="20" name="Text 5">
            <a:extLst>
              <a:ext uri="{FF2B5EF4-FFF2-40B4-BE49-F238E27FC236}">
                <a16:creationId xmlns:a16="http://schemas.microsoft.com/office/drawing/2014/main" id="{82210DD4-699F-41DC-93D5-09B7892AF28A}"/>
              </a:ext>
            </a:extLst>
          </p:cNvPr>
          <p:cNvSpPr/>
          <p:nvPr/>
        </p:nvSpPr>
        <p:spPr>
          <a:xfrm>
            <a:off x="4931798" y="1304510"/>
            <a:ext cx="3977640" cy="594360"/>
          </a:xfrm>
          <a:prstGeom prst="rect">
            <a:avLst/>
          </a:prstGeom>
          <a:noFill/>
          <a:ln/>
        </p:spPr>
        <p:txBody>
          <a:bodyPr wrap="square" rtlCol="0" anchor="ctr"/>
          <a:lstStyle/>
          <a:p>
            <a:pPr marL="0" indent="0" algn="ctr">
              <a:buNone/>
            </a:pPr>
            <a:r>
              <a:rPr lang="en-US" sz="2200" b="1" dirty="0">
                <a:solidFill>
                  <a:schemeClr val="bg1"/>
                </a:solidFill>
              </a:rPr>
              <a:t>Target</a:t>
            </a:r>
            <a:endParaRPr lang="en-US" sz="2200" dirty="0">
              <a:solidFill>
                <a:schemeClr val="bg1"/>
              </a:solidFill>
            </a:endParaRPr>
          </a:p>
        </p:txBody>
      </p:sp>
      <p:sp>
        <p:nvSpPr>
          <p:cNvPr id="21" name="Text 6">
            <a:extLst>
              <a:ext uri="{FF2B5EF4-FFF2-40B4-BE49-F238E27FC236}">
                <a16:creationId xmlns:a16="http://schemas.microsoft.com/office/drawing/2014/main" id="{C9442796-F796-42BE-BF3E-A9D2A36F9B5F}"/>
              </a:ext>
            </a:extLst>
          </p:cNvPr>
          <p:cNvSpPr/>
          <p:nvPr/>
        </p:nvSpPr>
        <p:spPr>
          <a:xfrm>
            <a:off x="6349118" y="2837124"/>
            <a:ext cx="2468880" cy="1188720"/>
          </a:xfrm>
          <a:prstGeom prst="rect">
            <a:avLst/>
          </a:prstGeom>
          <a:noFill/>
          <a:ln/>
        </p:spPr>
        <p:txBody>
          <a:bodyPr wrap="square" rtlCol="0" anchor="t"/>
          <a:lstStyle/>
          <a:p>
            <a:pPr marL="0" indent="0" algn="ctr">
              <a:buNone/>
            </a:pPr>
            <a:r>
              <a:rPr lang="en-US" sz="1200" dirty="0">
                <a:solidFill>
                  <a:srgbClr val="0F172A"/>
                </a:solidFill>
              </a:rPr>
              <a:t>Risco alto de burnout</a:t>
            </a:r>
            <a:endParaRPr lang="en-US" sz="1200" dirty="0"/>
          </a:p>
          <a:p>
            <a:pPr marL="0" indent="0" algn="ctr">
              <a:buNone/>
            </a:pPr>
            <a:r>
              <a:rPr lang="en-US" sz="1200" dirty="0">
                <a:solidFill>
                  <a:srgbClr val="0F172A"/>
                </a:solidFill>
              </a:rPr>
              <a:t>Alerta para gestores</a:t>
            </a:r>
            <a:endParaRPr lang="en-US" sz="1200" dirty="0"/>
          </a:p>
        </p:txBody>
      </p:sp>
      <p:sp>
        <p:nvSpPr>
          <p:cNvPr id="22" name="Shape 2">
            <a:extLst>
              <a:ext uri="{FF2B5EF4-FFF2-40B4-BE49-F238E27FC236}">
                <a16:creationId xmlns:a16="http://schemas.microsoft.com/office/drawing/2014/main" id="{4AAB978B-5DF0-45C4-A161-FBF087258047}"/>
              </a:ext>
            </a:extLst>
          </p:cNvPr>
          <p:cNvSpPr/>
          <p:nvPr/>
        </p:nvSpPr>
        <p:spPr>
          <a:xfrm>
            <a:off x="4862222" y="1302027"/>
            <a:ext cx="4007457" cy="3150704"/>
          </a:xfrm>
          <a:prstGeom prst="roundRect">
            <a:avLst>
              <a:gd name="adj" fmla="val 3390"/>
            </a:avLst>
          </a:prstGeom>
          <a:solidFill>
            <a:srgbClr val="FFFFFF"/>
          </a:solidFill>
          <a:ln/>
          <a:effectLst>
            <a:outerShdw blurRad="101600" dist="38100" dir="2700000" algn="bl" rotWithShape="0">
              <a:srgbClr val="000000">
                <a:alpha val="10000"/>
              </a:srgbClr>
            </a:outerShdw>
          </a:effectLst>
        </p:spPr>
      </p:sp>
      <p:sp>
        <p:nvSpPr>
          <p:cNvPr id="23" name="Text 5">
            <a:extLst>
              <a:ext uri="{FF2B5EF4-FFF2-40B4-BE49-F238E27FC236}">
                <a16:creationId xmlns:a16="http://schemas.microsoft.com/office/drawing/2014/main" id="{BA6DB4BD-C74F-4D6A-91A2-166BC555186B}"/>
              </a:ext>
            </a:extLst>
          </p:cNvPr>
          <p:cNvSpPr/>
          <p:nvPr/>
        </p:nvSpPr>
        <p:spPr>
          <a:xfrm>
            <a:off x="4840358" y="1505775"/>
            <a:ext cx="3977640" cy="594360"/>
          </a:xfrm>
          <a:prstGeom prst="rect">
            <a:avLst/>
          </a:prstGeom>
          <a:noFill/>
          <a:ln/>
        </p:spPr>
        <p:txBody>
          <a:bodyPr wrap="square" rtlCol="0" anchor="ctr"/>
          <a:lstStyle/>
          <a:p>
            <a:pPr marL="0" indent="0" algn="ctr">
              <a:buNone/>
            </a:pPr>
            <a:r>
              <a:rPr lang="en-US" sz="2200" b="1" dirty="0">
                <a:solidFill>
                  <a:srgbClr val="1A2444"/>
                </a:solidFill>
              </a:rPr>
              <a:t>Dados </a:t>
            </a:r>
            <a:r>
              <a:rPr lang="en-US" sz="2200" b="1" dirty="0" err="1">
                <a:solidFill>
                  <a:srgbClr val="1A2444"/>
                </a:solidFill>
              </a:rPr>
              <a:t>Inconsistentes</a:t>
            </a:r>
            <a:endParaRPr lang="en-US" sz="2200" b="1" dirty="0">
              <a:solidFill>
                <a:srgbClr val="1A2444"/>
              </a:solidFill>
            </a:endParaRPr>
          </a:p>
        </p:txBody>
      </p:sp>
      <p:sp>
        <p:nvSpPr>
          <p:cNvPr id="24" name="Text 5">
            <a:extLst>
              <a:ext uri="{FF2B5EF4-FFF2-40B4-BE49-F238E27FC236}">
                <a16:creationId xmlns:a16="http://schemas.microsoft.com/office/drawing/2014/main" id="{D7031FA3-29F9-473D-8F10-D0012A04A768}"/>
              </a:ext>
            </a:extLst>
          </p:cNvPr>
          <p:cNvSpPr/>
          <p:nvPr/>
        </p:nvSpPr>
        <p:spPr>
          <a:xfrm>
            <a:off x="708660" y="2522675"/>
            <a:ext cx="3291840" cy="1290850"/>
          </a:xfrm>
          <a:prstGeom prst="rect">
            <a:avLst/>
          </a:prstGeom>
          <a:noFill/>
          <a:ln/>
        </p:spPr>
        <p:txBody>
          <a:bodyPr wrap="square" rtlCol="0" anchor="ctr"/>
          <a:lstStyle/>
          <a:p>
            <a:pPr algn="ctr"/>
            <a:r>
              <a:rPr lang="pt-BR" sz="1600" dirty="0">
                <a:solidFill>
                  <a:srgbClr val="475569"/>
                </a:solidFill>
              </a:rPr>
              <a:t>Aqui, utilizamos </a:t>
            </a:r>
            <a:r>
              <a:rPr lang="pt-BR" sz="1600" dirty="0" err="1">
                <a:solidFill>
                  <a:srgbClr val="475569"/>
                </a:solidFill>
              </a:rPr>
              <a:t>Label</a:t>
            </a:r>
            <a:r>
              <a:rPr lang="pt-BR" sz="1600" dirty="0">
                <a:solidFill>
                  <a:srgbClr val="475569"/>
                </a:solidFill>
              </a:rPr>
              <a:t> </a:t>
            </a:r>
            <a:r>
              <a:rPr lang="pt-BR" sz="1600" dirty="0" err="1">
                <a:solidFill>
                  <a:srgbClr val="475569"/>
                </a:solidFill>
              </a:rPr>
              <a:t>Encoding</a:t>
            </a:r>
            <a:r>
              <a:rPr lang="pt-BR" sz="1600" dirty="0">
                <a:solidFill>
                  <a:srgbClr val="475569"/>
                </a:solidFill>
              </a:rPr>
              <a:t> para converter os dados, pois alguns dados estavam armazenados como texto, impedindo sua utilização pelo algoritmo</a:t>
            </a:r>
            <a:endParaRPr lang="en-US" sz="1600" dirty="0"/>
          </a:p>
        </p:txBody>
      </p:sp>
      <p:sp>
        <p:nvSpPr>
          <p:cNvPr id="25" name="Text 5">
            <a:extLst>
              <a:ext uri="{FF2B5EF4-FFF2-40B4-BE49-F238E27FC236}">
                <a16:creationId xmlns:a16="http://schemas.microsoft.com/office/drawing/2014/main" id="{BCE40AC7-B826-47B5-AF8B-9AEEC2FB1BD4}"/>
              </a:ext>
            </a:extLst>
          </p:cNvPr>
          <p:cNvSpPr/>
          <p:nvPr/>
        </p:nvSpPr>
        <p:spPr>
          <a:xfrm>
            <a:off x="5220030" y="2482044"/>
            <a:ext cx="3291840" cy="1290850"/>
          </a:xfrm>
          <a:prstGeom prst="rect">
            <a:avLst/>
          </a:prstGeom>
          <a:noFill/>
          <a:ln/>
        </p:spPr>
        <p:txBody>
          <a:bodyPr wrap="square" rtlCol="0" anchor="ctr"/>
          <a:lstStyle/>
          <a:p>
            <a:pPr algn="ctr"/>
            <a:r>
              <a:rPr lang="pt-BR" sz="1600" dirty="0">
                <a:solidFill>
                  <a:srgbClr val="475569"/>
                </a:solidFill>
              </a:rPr>
              <a:t>Nesse outro, tratamos os dados inconsistentes e ausentes, substituindo valores infinitos por nulos e preenchendo campos sem informação.</a:t>
            </a:r>
            <a:endParaRPr lang="en-US" sz="1600" dirty="0"/>
          </a:p>
        </p:txBody>
      </p:sp>
    </p:spTree>
    <p:extLst>
      <p:ext uri="{BB962C8B-B14F-4D97-AF65-F5344CB8AC3E}">
        <p14:creationId xmlns:p14="http://schemas.microsoft.com/office/powerpoint/2010/main" val="4144343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rPr>
              <a:t>Base de Dados - </a:t>
            </a:r>
            <a:r>
              <a:rPr lang="en-US" sz="2600" b="1" dirty="0" err="1">
                <a:solidFill>
                  <a:srgbClr val="FFFFFF"/>
                </a:solidFill>
              </a:rPr>
              <a:t>Árvore</a:t>
            </a:r>
            <a:r>
              <a:rPr lang="en-US" sz="2600" b="1" dirty="0">
                <a:solidFill>
                  <a:srgbClr val="FFFFFF"/>
                </a:solidFill>
              </a:rPr>
              <a:t> de </a:t>
            </a:r>
            <a:r>
              <a:rPr lang="en-US" sz="2600" b="1" dirty="0" err="1">
                <a:solidFill>
                  <a:srgbClr val="FFFFFF"/>
                </a:solidFill>
              </a:rPr>
              <a:t>Decisão</a:t>
            </a:r>
            <a:r>
              <a:rPr lang="en-US" sz="2600" b="1" dirty="0">
                <a:solidFill>
                  <a:srgbClr val="FFFFFF"/>
                </a:solidFill>
              </a:rPr>
              <a:t> </a:t>
            </a:r>
            <a:endParaRPr lang="en-US" sz="2600" dirty="0"/>
          </a:p>
        </p:txBody>
      </p:sp>
      <p:sp>
        <p:nvSpPr>
          <p:cNvPr id="4" name="Shape 2"/>
          <p:cNvSpPr/>
          <p:nvPr/>
        </p:nvSpPr>
        <p:spPr>
          <a:xfrm>
            <a:off x="365760" y="1234440"/>
            <a:ext cx="5029200" cy="3566160"/>
          </a:xfrm>
          <a:prstGeom prst="roundRect">
            <a:avLst>
              <a:gd name="adj" fmla="val 9756"/>
            </a:avLst>
          </a:prstGeom>
          <a:solidFill>
            <a:srgbClr val="E8F4F8"/>
          </a:solidFill>
          <a:ln>
            <a:solidFill>
              <a:srgbClr val="1A2444"/>
            </a:solidFill>
          </a:ln>
        </p:spPr>
        <p:txBody>
          <a:bodyPr/>
          <a:lstStyle/>
          <a:p>
            <a:r>
              <a:rPr lang="pt-BR" sz="1000" dirty="0">
                <a:solidFill>
                  <a:srgbClr val="008000"/>
                </a:solidFill>
                <a:latin typeface="Courier New" panose="02070309020205020404" pitchFamily="49" charset="0"/>
              </a:rPr>
              <a:t># APLICANDO O ALGORITMO DA ÁRVORE DE DECISÃO #</a:t>
            </a:r>
            <a:endParaRPr lang="pt-BR" sz="1000" dirty="0">
              <a:solidFill>
                <a:srgbClr val="000000"/>
              </a:solidFill>
              <a:latin typeface="Courier New" panose="02070309020205020404" pitchFamily="49" charset="0"/>
            </a:endParaRPr>
          </a:p>
          <a:p>
            <a:r>
              <a:rPr lang="pt-BR" sz="1000" dirty="0" err="1">
                <a:solidFill>
                  <a:srgbClr val="9723B4"/>
                </a:solidFill>
                <a:latin typeface="Courier New" panose="02070309020205020404" pitchFamily="49" charset="0"/>
              </a:rPr>
              <a:t>from</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sklearn</a:t>
            </a:r>
            <a:r>
              <a:rPr lang="pt-BR" sz="1000" dirty="0">
                <a:solidFill>
                  <a:srgbClr val="000000"/>
                </a:solidFill>
                <a:latin typeface="Courier New" panose="02070309020205020404" pitchFamily="49" charset="0"/>
              </a:rPr>
              <a:t> </a:t>
            </a:r>
            <a:r>
              <a:rPr lang="pt-BR" sz="1000" dirty="0" err="1">
                <a:solidFill>
                  <a:srgbClr val="9723B4"/>
                </a:solidFill>
                <a:latin typeface="Courier New" panose="02070309020205020404" pitchFamily="49" charset="0"/>
              </a:rPr>
              <a:t>import</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tree</a:t>
            </a:r>
            <a:endParaRPr lang="pt-BR" sz="1000" dirty="0">
              <a:solidFill>
                <a:srgbClr val="000000"/>
              </a:solidFill>
              <a:latin typeface="Courier New" panose="02070309020205020404" pitchFamily="49" charset="0"/>
            </a:endParaRPr>
          </a:p>
          <a:p>
            <a:r>
              <a:rPr lang="pt-BR" sz="1000" dirty="0" err="1">
                <a:solidFill>
                  <a:srgbClr val="000000"/>
                </a:solidFill>
                <a:latin typeface="Courier New" panose="02070309020205020404" pitchFamily="49" charset="0"/>
              </a:rPr>
              <a:t>modeloARV</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tree.DecisionTreeClassifier</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criterion</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entropy</a:t>
            </a:r>
            <a:r>
              <a:rPr lang="pt-BR" sz="1000" dirty="0">
                <a:solidFill>
                  <a:srgbClr val="A31515"/>
                </a:solidFill>
                <a:latin typeface="Courier New" panose="02070309020205020404" pitchFamily="49" charset="0"/>
              </a:rPr>
              <a:t>'</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max_depth</a:t>
            </a:r>
            <a:r>
              <a:rPr lang="pt-BR" sz="1000" dirty="0">
                <a:solidFill>
                  <a:srgbClr val="000000"/>
                </a:solidFill>
                <a:latin typeface="Courier New" panose="02070309020205020404" pitchFamily="49" charset="0"/>
              </a:rPr>
              <a:t>=</a:t>
            </a:r>
            <a:r>
              <a:rPr lang="pt-BR" sz="1000" dirty="0">
                <a:solidFill>
                  <a:srgbClr val="116644"/>
                </a:solidFill>
                <a:latin typeface="Courier New" panose="02070309020205020404" pitchFamily="49" charset="0"/>
              </a:rPr>
              <a:t>3</a:t>
            </a:r>
            <a:r>
              <a:rPr lang="pt-BR" sz="1000" dirty="0">
                <a:solidFill>
                  <a:srgbClr val="000000"/>
                </a:solidFill>
                <a:latin typeface="Courier New" panose="02070309020205020404" pitchFamily="49" charset="0"/>
              </a:rPr>
              <a:t>)</a:t>
            </a:r>
          </a:p>
          <a:p>
            <a:r>
              <a:rPr lang="pt-BR" sz="1000" dirty="0" err="1">
                <a:solidFill>
                  <a:srgbClr val="000000"/>
                </a:solidFill>
                <a:latin typeface="Courier New" panose="02070309020205020404" pitchFamily="49" charset="0"/>
              </a:rPr>
              <a:t>modeloARV</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modeloARV.fit</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X_treino</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y_treino</a:t>
            </a:r>
            <a:r>
              <a:rPr lang="pt-BR" sz="1000" dirty="0">
                <a:solidFill>
                  <a:srgbClr val="000000"/>
                </a:solidFill>
                <a:latin typeface="Courier New" panose="02070309020205020404" pitchFamily="49" charset="0"/>
              </a:rPr>
              <a:t>)</a:t>
            </a:r>
          </a:p>
          <a:p>
            <a:r>
              <a:rPr lang="pt-BR" sz="1000" dirty="0" err="1">
                <a:solidFill>
                  <a:srgbClr val="000000"/>
                </a:solidFill>
                <a:latin typeface="Courier New" panose="02070309020205020404" pitchFamily="49" charset="0"/>
              </a:rPr>
              <a:t>predictionsARV</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modeloARV.predict</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X_teste</a:t>
            </a:r>
            <a:r>
              <a:rPr lang="pt-BR" sz="1000" dirty="0">
                <a:solidFill>
                  <a:srgbClr val="000000"/>
                </a:solidFill>
                <a:latin typeface="Courier New" panose="02070309020205020404" pitchFamily="49" charset="0"/>
              </a:rPr>
              <a:t>)</a:t>
            </a:r>
          </a:p>
          <a:p>
            <a:br>
              <a:rPr lang="pt-BR" sz="1000" dirty="0">
                <a:solidFill>
                  <a:srgbClr val="000000"/>
                </a:solidFill>
                <a:latin typeface="Courier New" panose="02070309020205020404" pitchFamily="49" charset="0"/>
              </a:rPr>
            </a:br>
            <a:r>
              <a:rPr lang="pt-BR" sz="1000" dirty="0">
                <a:solidFill>
                  <a:srgbClr val="008000"/>
                </a:solidFill>
                <a:latin typeface="Courier New" panose="02070309020205020404" pitchFamily="49" charset="0"/>
              </a:rPr>
              <a:t># MOSTRANDO OS RESULTADOS DO ALGORITMO DA ÁRVORE DE DECISÃO #</a:t>
            </a:r>
            <a:endParaRPr lang="pt-BR" sz="1000" dirty="0">
              <a:solidFill>
                <a:srgbClr val="000000"/>
              </a:solidFill>
              <a:latin typeface="Courier New" panose="02070309020205020404" pitchFamily="49" charset="0"/>
            </a:endParaRPr>
          </a:p>
          <a:p>
            <a:br>
              <a:rPr lang="pt-BR" sz="1000" dirty="0">
                <a:solidFill>
                  <a:srgbClr val="000000"/>
                </a:solidFill>
                <a:latin typeface="Courier New" panose="02070309020205020404" pitchFamily="49" charset="0"/>
              </a:rPr>
            </a:br>
            <a:r>
              <a:rPr lang="pt-BR" sz="1000" dirty="0">
                <a:solidFill>
                  <a:srgbClr val="6A5221"/>
                </a:solidFill>
                <a:latin typeface="Courier New" panose="02070309020205020404" pitchFamily="49" charset="0"/>
              </a:rPr>
              <a:t>print</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nMatriz</a:t>
            </a:r>
            <a:r>
              <a:rPr lang="pt-BR" sz="1000" dirty="0">
                <a:solidFill>
                  <a:srgbClr val="A31515"/>
                </a:solidFill>
                <a:latin typeface="Courier New" panose="02070309020205020404" pitchFamily="49" charset="0"/>
              </a:rPr>
              <a:t> de confusão detalhada da Árvore de Decisão:\n"</a:t>
            </a:r>
            <a:r>
              <a:rPr lang="pt-BR" sz="1000" dirty="0">
                <a:solidFill>
                  <a:srgbClr val="000000"/>
                </a:solidFill>
                <a:latin typeface="Courier New" panose="02070309020205020404" pitchFamily="49" charset="0"/>
              </a:rPr>
              <a:t>,</a:t>
            </a:r>
          </a:p>
          <a:p>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pd.crosstab</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y_teste</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predictionsARV</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rownames</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'Real'</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colnames</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'Predito'</a:t>
            </a:r>
            <a:r>
              <a:rPr lang="pt-BR" sz="1000" dirty="0">
                <a:solidFill>
                  <a:srgbClr val="000000"/>
                </a:solidFill>
                <a:latin typeface="Courier New" panose="02070309020205020404" pitchFamily="49" charset="0"/>
              </a:rPr>
              <a:t>],</a:t>
            </a:r>
          </a:p>
          <a:p>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margins</a:t>
            </a:r>
            <a:r>
              <a:rPr lang="pt-BR" sz="1000" dirty="0">
                <a:solidFill>
                  <a:srgbClr val="000000"/>
                </a:solidFill>
                <a:latin typeface="Courier New" panose="02070309020205020404" pitchFamily="49" charset="0"/>
              </a:rPr>
              <a:t>=</a:t>
            </a:r>
            <a:r>
              <a:rPr lang="pt-BR" sz="1000" dirty="0" err="1">
                <a:solidFill>
                  <a:srgbClr val="0000FF"/>
                </a:solidFill>
                <a:latin typeface="Courier New" panose="02070309020205020404" pitchFamily="49" charset="0"/>
              </a:rPr>
              <a:t>True</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margins_name</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'Todos'</a:t>
            </a:r>
            <a:r>
              <a:rPr lang="pt-BR" sz="1000" dirty="0">
                <a:solidFill>
                  <a:srgbClr val="000000"/>
                </a:solidFill>
                <a:latin typeface="Courier New" panose="02070309020205020404" pitchFamily="49" charset="0"/>
              </a:rPr>
              <a:t>))</a:t>
            </a:r>
          </a:p>
          <a:p>
            <a:br>
              <a:rPr lang="pt-BR" sz="1000" dirty="0">
                <a:solidFill>
                  <a:srgbClr val="000000"/>
                </a:solidFill>
                <a:latin typeface="Courier New" panose="02070309020205020404" pitchFamily="49" charset="0"/>
              </a:rPr>
            </a:br>
            <a:r>
              <a:rPr lang="pt-BR" sz="1000" dirty="0" err="1">
                <a:solidFill>
                  <a:srgbClr val="000000"/>
                </a:solidFill>
                <a:latin typeface="Courier New" panose="02070309020205020404" pitchFamily="49" charset="0"/>
              </a:rPr>
              <a:t>dic_arv</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metrics.classification_report</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y_teste</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predictionsARV</a:t>
            </a:r>
            <a:r>
              <a:rPr lang="pt-BR" sz="1000" dirty="0">
                <a:solidFill>
                  <a:srgbClr val="000000"/>
                </a:solidFill>
                <a:latin typeface="Courier New" panose="02070309020205020404" pitchFamily="49" charset="0"/>
              </a:rPr>
              <a:t>,</a:t>
            </a:r>
          </a:p>
          <a:p>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target_names</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'High'</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Low</a:t>
            </a:r>
            <a:r>
              <a:rPr lang="pt-BR" sz="1000" dirty="0">
                <a:solidFill>
                  <a:srgbClr val="A31515"/>
                </a:solidFill>
                <a:latin typeface="Courier New" panose="02070309020205020404" pitchFamily="49" charset="0"/>
              </a:rPr>
              <a:t>'</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Moderate</a:t>
            </a:r>
            <a:r>
              <a:rPr lang="pt-BR" sz="1000" dirty="0">
                <a:solidFill>
                  <a:srgbClr val="A31515"/>
                </a:solidFill>
                <a:latin typeface="Courier New" panose="02070309020205020404" pitchFamily="49" charset="0"/>
              </a:rPr>
              <a:t>'</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output_dict</a:t>
            </a:r>
            <a:r>
              <a:rPr lang="pt-BR" sz="1000" dirty="0">
                <a:solidFill>
                  <a:srgbClr val="000000"/>
                </a:solidFill>
                <a:latin typeface="Courier New" panose="02070309020205020404" pitchFamily="49" charset="0"/>
              </a:rPr>
              <a:t>=</a:t>
            </a:r>
            <a:r>
              <a:rPr lang="pt-BR" sz="1000" dirty="0" err="1">
                <a:solidFill>
                  <a:srgbClr val="0000FF"/>
                </a:solidFill>
                <a:latin typeface="Courier New" panose="02070309020205020404" pitchFamily="49" charset="0"/>
              </a:rPr>
              <a:t>True</a:t>
            </a:r>
            <a:r>
              <a:rPr lang="pt-BR" sz="1000" dirty="0">
                <a:solidFill>
                  <a:srgbClr val="000000"/>
                </a:solidFill>
                <a:latin typeface="Courier New" panose="02070309020205020404" pitchFamily="49" charset="0"/>
              </a:rPr>
              <a:t>)</a:t>
            </a:r>
          </a:p>
          <a:p>
            <a:r>
              <a:rPr lang="pt-BR" sz="1000" dirty="0" err="1">
                <a:solidFill>
                  <a:srgbClr val="000000"/>
                </a:solidFill>
                <a:latin typeface="Courier New" panose="02070309020205020404" pitchFamily="49" charset="0"/>
              </a:rPr>
              <a:t>result_arv</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dic_arv</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accuracy</a:t>
            </a:r>
            <a:r>
              <a:rPr lang="pt-BR" sz="1000" dirty="0">
                <a:solidFill>
                  <a:srgbClr val="A31515"/>
                </a:solidFill>
                <a:latin typeface="Courier New" panose="02070309020205020404" pitchFamily="49" charset="0"/>
              </a:rPr>
              <a:t>'</a:t>
            </a:r>
            <a:r>
              <a:rPr lang="pt-BR" sz="1000" dirty="0">
                <a:solidFill>
                  <a:srgbClr val="000000"/>
                </a:solidFill>
                <a:latin typeface="Courier New" panose="02070309020205020404" pitchFamily="49" charset="0"/>
              </a:rPr>
              <a:t>]</a:t>
            </a:r>
          </a:p>
          <a:p>
            <a:r>
              <a:rPr lang="pt-BR" sz="1000" dirty="0">
                <a:solidFill>
                  <a:srgbClr val="6A5221"/>
                </a:solidFill>
                <a:latin typeface="Courier New" panose="02070309020205020404" pitchFamily="49" charset="0"/>
              </a:rPr>
              <a:t>print</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"Acurácia da Árvore de Decisão: "</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result_arv</a:t>
            </a:r>
            <a:r>
              <a:rPr lang="pt-BR" sz="1000" dirty="0">
                <a:solidFill>
                  <a:srgbClr val="000000"/>
                </a:solidFill>
                <a:latin typeface="Courier New" panose="02070309020205020404" pitchFamily="49" charset="0"/>
              </a:rPr>
              <a:t>)</a:t>
            </a:r>
          </a:p>
          <a:p>
            <a:endParaRPr lang="pt-BR" dirty="0"/>
          </a:p>
        </p:txBody>
      </p:sp>
      <p:sp>
        <p:nvSpPr>
          <p:cNvPr id="12" name="Shape 10"/>
          <p:cNvSpPr/>
          <p:nvPr/>
        </p:nvSpPr>
        <p:spPr>
          <a:xfrm>
            <a:off x="5760720" y="1234440"/>
            <a:ext cx="3017520" cy="3566160"/>
          </a:xfrm>
          <a:prstGeom prst="roundRect">
            <a:avLst>
              <a:gd name="adj" fmla="val 3636"/>
            </a:avLst>
          </a:prstGeom>
          <a:solidFill>
            <a:srgbClr val="1A2444"/>
          </a:solidFill>
          <a:ln/>
        </p:spPr>
      </p:sp>
      <p:sp>
        <p:nvSpPr>
          <p:cNvPr id="5" name="Text 3"/>
          <p:cNvSpPr/>
          <p:nvPr/>
        </p:nvSpPr>
        <p:spPr>
          <a:xfrm>
            <a:off x="6198041" y="1687664"/>
            <a:ext cx="2142877" cy="2659711"/>
          </a:xfrm>
          <a:prstGeom prst="rect">
            <a:avLst/>
          </a:prstGeom>
          <a:noFill/>
          <a:ln/>
        </p:spPr>
        <p:txBody>
          <a:bodyPr wrap="square" rtlCol="0" anchor="ctr"/>
          <a:lstStyle/>
          <a:p>
            <a:pPr marL="285750" indent="-285750">
              <a:buFont typeface="Arial" panose="020B0604020202020204" pitchFamily="34" charset="0"/>
              <a:buChar char="•"/>
            </a:pPr>
            <a:r>
              <a:rPr lang="en-US" sz="1600" dirty="0" err="1">
                <a:solidFill>
                  <a:schemeClr val="bg1"/>
                </a:solidFill>
              </a:rPr>
              <a:t>Escolhida</a:t>
            </a:r>
            <a:r>
              <a:rPr lang="en-US" sz="1600" dirty="0">
                <a:solidFill>
                  <a:schemeClr val="bg1"/>
                </a:solidFill>
              </a:rPr>
              <a:t> por </a:t>
            </a:r>
            <a:r>
              <a:rPr lang="en-US" sz="1600" dirty="0" err="1">
                <a:solidFill>
                  <a:schemeClr val="bg1"/>
                </a:solidFill>
              </a:rPr>
              <a:t>sua</a:t>
            </a:r>
            <a:r>
              <a:rPr lang="en-US" sz="1600" dirty="0">
                <a:solidFill>
                  <a:schemeClr val="bg1"/>
                </a:solidFill>
              </a:rPr>
              <a:t> </a:t>
            </a:r>
            <a:r>
              <a:rPr lang="en-US" sz="1600" dirty="0" err="1">
                <a:solidFill>
                  <a:schemeClr val="bg1"/>
                </a:solidFill>
              </a:rPr>
              <a:t>capacidade</a:t>
            </a:r>
            <a:r>
              <a:rPr lang="en-US" sz="1600" dirty="0">
                <a:solidFill>
                  <a:schemeClr val="bg1"/>
                </a:solidFill>
              </a:rPr>
              <a:t> de </a:t>
            </a:r>
            <a:r>
              <a:rPr lang="en-US" sz="1600" dirty="0" err="1">
                <a:solidFill>
                  <a:schemeClr val="bg1"/>
                </a:solidFill>
              </a:rPr>
              <a:t>gerar</a:t>
            </a:r>
            <a:r>
              <a:rPr lang="en-US" sz="1600" dirty="0">
                <a:solidFill>
                  <a:schemeClr val="bg1"/>
                </a:solidFill>
              </a:rPr>
              <a:t> </a:t>
            </a:r>
            <a:r>
              <a:rPr lang="en-US" sz="1600" dirty="0" err="1">
                <a:solidFill>
                  <a:schemeClr val="bg1"/>
                </a:solidFill>
              </a:rPr>
              <a:t>modelos</a:t>
            </a:r>
            <a:r>
              <a:rPr lang="en-US" sz="1600" dirty="0">
                <a:solidFill>
                  <a:schemeClr val="bg1"/>
                </a:solidFill>
              </a:rPr>
              <a:t> de </a:t>
            </a:r>
            <a:r>
              <a:rPr lang="en-US" sz="1600" dirty="0" err="1">
                <a:solidFill>
                  <a:schemeClr val="bg1"/>
                </a:solidFill>
              </a:rPr>
              <a:t>fácil</a:t>
            </a:r>
            <a:r>
              <a:rPr lang="en-US" sz="1600" dirty="0">
                <a:solidFill>
                  <a:schemeClr val="bg1"/>
                </a:solidFill>
              </a:rPr>
              <a:t> </a:t>
            </a:r>
            <a:r>
              <a:rPr lang="en-US" sz="1600" dirty="0" err="1">
                <a:solidFill>
                  <a:schemeClr val="bg1"/>
                </a:solidFill>
              </a:rPr>
              <a:t>interpretação</a:t>
            </a: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err="1">
                <a:solidFill>
                  <a:schemeClr val="bg1"/>
                </a:solidFill>
              </a:rPr>
              <a:t>Capaz</a:t>
            </a:r>
            <a:r>
              <a:rPr lang="en-US" sz="1600" dirty="0">
                <a:solidFill>
                  <a:schemeClr val="bg1"/>
                </a:solidFill>
              </a:rPr>
              <a:t> de </a:t>
            </a:r>
            <a:r>
              <a:rPr lang="en-US" sz="1600" dirty="0" err="1">
                <a:solidFill>
                  <a:schemeClr val="bg1"/>
                </a:solidFill>
              </a:rPr>
              <a:t>identificar</a:t>
            </a:r>
            <a:r>
              <a:rPr lang="en-US" sz="1600" dirty="0">
                <a:solidFill>
                  <a:schemeClr val="bg1"/>
                </a:solidFill>
              </a:rPr>
              <a:t> </a:t>
            </a:r>
            <a:r>
              <a:rPr lang="en-US" sz="1600" dirty="0" err="1">
                <a:solidFill>
                  <a:schemeClr val="bg1"/>
                </a:solidFill>
              </a:rPr>
              <a:t>relações</a:t>
            </a:r>
            <a:r>
              <a:rPr lang="en-US" sz="1600" dirty="0">
                <a:solidFill>
                  <a:schemeClr val="bg1"/>
                </a:solidFill>
              </a:rPr>
              <a:t> </a:t>
            </a:r>
            <a:r>
              <a:rPr lang="en-US" sz="1600" dirty="0" err="1">
                <a:solidFill>
                  <a:schemeClr val="bg1"/>
                </a:solidFill>
              </a:rPr>
              <a:t>não</a:t>
            </a:r>
            <a:r>
              <a:rPr lang="en-US" sz="1600" dirty="0">
                <a:solidFill>
                  <a:schemeClr val="bg1"/>
                </a:solidFill>
              </a:rPr>
              <a:t> </a:t>
            </a:r>
            <a:r>
              <a:rPr lang="en-US" sz="1600" dirty="0" err="1">
                <a:solidFill>
                  <a:schemeClr val="bg1"/>
                </a:solidFill>
              </a:rPr>
              <a:t>lineares</a:t>
            </a:r>
            <a:r>
              <a:rPr lang="en-US" sz="1600" dirty="0">
                <a:solidFill>
                  <a:schemeClr val="bg1"/>
                </a:solidFill>
              </a:rPr>
              <a:t> entre </a:t>
            </a:r>
            <a:r>
              <a:rPr lang="en-US" sz="1600" dirty="0" err="1">
                <a:solidFill>
                  <a:schemeClr val="bg1"/>
                </a:solidFill>
              </a:rPr>
              <a:t>os</a:t>
            </a:r>
            <a:r>
              <a:rPr lang="en-US" sz="1600" dirty="0">
                <a:solidFill>
                  <a:schemeClr val="bg1"/>
                </a:solidFill>
              </a:rPr>
              <a:t> </a:t>
            </a:r>
            <a:r>
              <a:rPr lang="en-US" sz="1600" dirty="0" err="1">
                <a:solidFill>
                  <a:schemeClr val="bg1"/>
                </a:solidFill>
              </a:rPr>
              <a:t>atributos</a:t>
            </a:r>
            <a:r>
              <a:rPr lang="en-US" sz="1600" dirty="0">
                <a:solidFill>
                  <a:schemeClr val="bg1"/>
                </a:solidFill>
              </a:rPr>
              <a:t> e a </a:t>
            </a:r>
            <a:r>
              <a:rPr lang="en-US" sz="1600" dirty="0" err="1">
                <a:solidFill>
                  <a:schemeClr val="bg1"/>
                </a:solidFill>
              </a:rPr>
              <a:t>variável</a:t>
            </a:r>
            <a:r>
              <a:rPr lang="en-US" sz="1600" dirty="0">
                <a:solidFill>
                  <a:schemeClr val="bg1"/>
                </a:solidFill>
              </a:rPr>
              <a:t> target.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r>
              <a:rPr lang="en-US" sz="2600" b="1" dirty="0">
                <a:solidFill>
                  <a:srgbClr val="FFFFFF"/>
                </a:solidFill>
              </a:rPr>
              <a:t>Base de Dados - KNN</a:t>
            </a:r>
            <a:endParaRPr lang="en-US" sz="2600" dirty="0"/>
          </a:p>
        </p:txBody>
      </p:sp>
      <p:sp>
        <p:nvSpPr>
          <p:cNvPr id="6" name="Shape 4"/>
          <p:cNvSpPr/>
          <p:nvPr/>
        </p:nvSpPr>
        <p:spPr>
          <a:xfrm>
            <a:off x="3749040" y="1250740"/>
            <a:ext cx="5029200" cy="3566160"/>
          </a:xfrm>
          <a:prstGeom prst="roundRect">
            <a:avLst>
              <a:gd name="adj" fmla="val 9756"/>
            </a:avLst>
          </a:prstGeom>
          <a:solidFill>
            <a:srgbClr val="FFFFFF"/>
          </a:solidFill>
          <a:ln>
            <a:solidFill>
              <a:srgbClr val="1A2444"/>
            </a:solidFill>
          </a:ln>
        </p:spPr>
        <p:txBody>
          <a:bodyPr/>
          <a:lstStyle/>
          <a:p>
            <a:r>
              <a:rPr lang="pt-BR" sz="1050" dirty="0">
                <a:solidFill>
                  <a:srgbClr val="008000"/>
                </a:solidFill>
                <a:latin typeface="Courier New" panose="02070309020205020404" pitchFamily="49" charset="0"/>
              </a:rPr>
              <a:t># APLICANDO O ALGORITMO KNN #</a:t>
            </a:r>
            <a:endParaRPr lang="pt-BR" sz="1050" dirty="0">
              <a:solidFill>
                <a:srgbClr val="000000"/>
              </a:solidFill>
              <a:latin typeface="Courier New" panose="02070309020205020404" pitchFamily="49" charset="0"/>
            </a:endParaRPr>
          </a:p>
          <a:p>
            <a:br>
              <a:rPr lang="pt-BR" sz="1050" dirty="0">
                <a:solidFill>
                  <a:srgbClr val="000000"/>
                </a:solidFill>
                <a:latin typeface="Courier New" panose="02070309020205020404" pitchFamily="49" charset="0"/>
              </a:rPr>
            </a:br>
            <a:r>
              <a:rPr lang="pt-BR" sz="1050" dirty="0" err="1">
                <a:solidFill>
                  <a:srgbClr val="9723B4"/>
                </a:solidFill>
                <a:latin typeface="Courier New" panose="02070309020205020404" pitchFamily="49" charset="0"/>
              </a:rPr>
              <a:t>from</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sklearn.neighbors</a:t>
            </a:r>
            <a:r>
              <a:rPr lang="pt-BR" sz="1050" dirty="0">
                <a:solidFill>
                  <a:srgbClr val="000000"/>
                </a:solidFill>
                <a:latin typeface="Courier New" panose="02070309020205020404" pitchFamily="49" charset="0"/>
              </a:rPr>
              <a:t> </a:t>
            </a:r>
            <a:r>
              <a:rPr lang="pt-BR" sz="1050" dirty="0" err="1">
                <a:solidFill>
                  <a:srgbClr val="9723B4"/>
                </a:solidFill>
                <a:latin typeface="Courier New" panose="02070309020205020404" pitchFamily="49" charset="0"/>
              </a:rPr>
              <a:t>import</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KNeighborsClassifier</a:t>
            </a:r>
            <a:endParaRPr lang="pt-BR" sz="1050" dirty="0">
              <a:solidFill>
                <a:srgbClr val="000000"/>
              </a:solidFill>
              <a:latin typeface="Courier New" panose="02070309020205020404" pitchFamily="49" charset="0"/>
            </a:endParaRPr>
          </a:p>
          <a:p>
            <a:br>
              <a:rPr lang="pt-BR" sz="1050" dirty="0">
                <a:solidFill>
                  <a:srgbClr val="000000"/>
                </a:solidFill>
                <a:latin typeface="Courier New" panose="02070309020205020404" pitchFamily="49" charset="0"/>
              </a:rPr>
            </a:br>
            <a:r>
              <a:rPr lang="pt-BR" sz="1050" dirty="0" err="1">
                <a:solidFill>
                  <a:srgbClr val="000000"/>
                </a:solidFill>
                <a:latin typeface="Courier New" panose="02070309020205020404" pitchFamily="49" charset="0"/>
              </a:rPr>
              <a:t>modeloKNN</a:t>
            </a:r>
            <a:r>
              <a:rPr lang="pt-BR" sz="1050" dirty="0">
                <a:solidFill>
                  <a:srgbClr val="000000"/>
                </a:solidFill>
                <a:latin typeface="Courier New" panose="02070309020205020404" pitchFamily="49" charset="0"/>
              </a:rPr>
              <a:t> = </a:t>
            </a:r>
            <a:r>
              <a:rPr lang="pt-BR" sz="1050" dirty="0" err="1">
                <a:solidFill>
                  <a:srgbClr val="000000"/>
                </a:solidFill>
                <a:latin typeface="Courier New" panose="02070309020205020404" pitchFamily="49" charset="0"/>
              </a:rPr>
              <a:t>KNeighborsClassifier</a:t>
            </a:r>
            <a:r>
              <a:rPr lang="pt-BR" sz="1050" dirty="0">
                <a:solidFill>
                  <a:srgbClr val="000000"/>
                </a:solidFill>
                <a:latin typeface="Courier New" panose="02070309020205020404" pitchFamily="49" charset="0"/>
              </a:rPr>
              <a:t>(</a:t>
            </a:r>
            <a:r>
              <a:rPr lang="pt-BR" sz="1050" dirty="0" err="1">
                <a:solidFill>
                  <a:srgbClr val="000000"/>
                </a:solidFill>
                <a:latin typeface="Courier New" panose="02070309020205020404" pitchFamily="49" charset="0"/>
              </a:rPr>
              <a:t>n_neighbors</a:t>
            </a:r>
            <a:r>
              <a:rPr lang="pt-BR" sz="1050" dirty="0">
                <a:solidFill>
                  <a:srgbClr val="000000"/>
                </a:solidFill>
                <a:latin typeface="Courier New" panose="02070309020205020404" pitchFamily="49" charset="0"/>
              </a:rPr>
              <a:t>=</a:t>
            </a:r>
            <a:r>
              <a:rPr lang="pt-BR" sz="1050" dirty="0">
                <a:solidFill>
                  <a:srgbClr val="116644"/>
                </a:solidFill>
                <a:latin typeface="Courier New" panose="02070309020205020404" pitchFamily="49" charset="0"/>
              </a:rPr>
              <a:t>3</a:t>
            </a:r>
            <a:r>
              <a:rPr lang="pt-BR" sz="1050" dirty="0">
                <a:solidFill>
                  <a:srgbClr val="000000"/>
                </a:solidFill>
                <a:latin typeface="Courier New" panose="02070309020205020404" pitchFamily="49" charset="0"/>
              </a:rPr>
              <a:t>)</a:t>
            </a:r>
          </a:p>
          <a:p>
            <a:r>
              <a:rPr lang="pt-BR" sz="1050" dirty="0" err="1">
                <a:solidFill>
                  <a:srgbClr val="000000"/>
                </a:solidFill>
                <a:latin typeface="Courier New" panose="02070309020205020404" pitchFamily="49" charset="0"/>
              </a:rPr>
              <a:t>modeloKNN.fit</a:t>
            </a:r>
            <a:r>
              <a:rPr lang="pt-BR" sz="1050" dirty="0">
                <a:solidFill>
                  <a:srgbClr val="000000"/>
                </a:solidFill>
                <a:latin typeface="Courier New" panose="02070309020205020404" pitchFamily="49" charset="0"/>
              </a:rPr>
              <a:t>(</a:t>
            </a:r>
            <a:r>
              <a:rPr lang="pt-BR" sz="1050" dirty="0" err="1">
                <a:solidFill>
                  <a:srgbClr val="000000"/>
                </a:solidFill>
                <a:latin typeface="Courier New" panose="02070309020205020404" pitchFamily="49" charset="0"/>
              </a:rPr>
              <a:t>X_treino</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y_treino</a:t>
            </a:r>
            <a:r>
              <a:rPr lang="pt-BR" sz="1050" dirty="0">
                <a:solidFill>
                  <a:srgbClr val="000000"/>
                </a:solidFill>
                <a:latin typeface="Courier New" panose="02070309020205020404" pitchFamily="49" charset="0"/>
              </a:rPr>
              <a:t>)</a:t>
            </a:r>
          </a:p>
          <a:p>
            <a:r>
              <a:rPr lang="pt-BR" sz="1050" dirty="0" err="1">
                <a:solidFill>
                  <a:srgbClr val="000000"/>
                </a:solidFill>
                <a:latin typeface="Courier New" panose="02070309020205020404" pitchFamily="49" charset="0"/>
              </a:rPr>
              <a:t>predictionsKNN</a:t>
            </a:r>
            <a:r>
              <a:rPr lang="pt-BR" sz="1050" dirty="0">
                <a:solidFill>
                  <a:srgbClr val="000000"/>
                </a:solidFill>
                <a:latin typeface="Courier New" panose="02070309020205020404" pitchFamily="49" charset="0"/>
              </a:rPr>
              <a:t> = </a:t>
            </a:r>
            <a:r>
              <a:rPr lang="pt-BR" sz="1050" dirty="0" err="1">
                <a:solidFill>
                  <a:srgbClr val="000000"/>
                </a:solidFill>
                <a:latin typeface="Courier New" panose="02070309020205020404" pitchFamily="49" charset="0"/>
              </a:rPr>
              <a:t>modeloKNN.predict</a:t>
            </a:r>
            <a:r>
              <a:rPr lang="pt-BR" sz="1050" dirty="0">
                <a:solidFill>
                  <a:srgbClr val="000000"/>
                </a:solidFill>
                <a:latin typeface="Courier New" panose="02070309020205020404" pitchFamily="49" charset="0"/>
              </a:rPr>
              <a:t>(</a:t>
            </a:r>
            <a:r>
              <a:rPr lang="pt-BR" sz="1050" dirty="0" err="1">
                <a:solidFill>
                  <a:srgbClr val="000000"/>
                </a:solidFill>
                <a:latin typeface="Courier New" panose="02070309020205020404" pitchFamily="49" charset="0"/>
              </a:rPr>
              <a:t>X_teste</a:t>
            </a:r>
            <a:r>
              <a:rPr lang="pt-BR" sz="1050" dirty="0">
                <a:solidFill>
                  <a:srgbClr val="000000"/>
                </a:solidFill>
                <a:latin typeface="Courier New" panose="02070309020205020404" pitchFamily="49" charset="0"/>
              </a:rPr>
              <a:t>)</a:t>
            </a:r>
          </a:p>
          <a:p>
            <a:br>
              <a:rPr lang="pt-BR" sz="1050" dirty="0">
                <a:solidFill>
                  <a:srgbClr val="000000"/>
                </a:solidFill>
                <a:latin typeface="Courier New" panose="02070309020205020404" pitchFamily="49" charset="0"/>
              </a:rPr>
            </a:br>
            <a:r>
              <a:rPr lang="pt-BR" sz="1050" dirty="0">
                <a:solidFill>
                  <a:srgbClr val="008000"/>
                </a:solidFill>
                <a:latin typeface="Courier New" panose="02070309020205020404" pitchFamily="49" charset="0"/>
              </a:rPr>
              <a:t># MOSTRANDO OS RESULTADOS DO ALGORITMO KNN #</a:t>
            </a:r>
            <a:endParaRPr lang="pt-BR" sz="1050" dirty="0">
              <a:solidFill>
                <a:srgbClr val="000000"/>
              </a:solidFill>
              <a:latin typeface="Courier New" panose="02070309020205020404" pitchFamily="49" charset="0"/>
            </a:endParaRPr>
          </a:p>
          <a:p>
            <a:br>
              <a:rPr lang="pt-BR" sz="1050" dirty="0">
                <a:solidFill>
                  <a:srgbClr val="000000"/>
                </a:solidFill>
                <a:latin typeface="Courier New" panose="02070309020205020404" pitchFamily="49" charset="0"/>
              </a:rPr>
            </a:br>
            <a:r>
              <a:rPr lang="pt-BR" sz="1050" dirty="0">
                <a:solidFill>
                  <a:srgbClr val="6A5221"/>
                </a:solidFill>
                <a:latin typeface="Courier New" panose="02070309020205020404" pitchFamily="49" charset="0"/>
              </a:rPr>
              <a:t>print</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a:t>
            </a:r>
            <a:r>
              <a:rPr lang="pt-BR" sz="1050" dirty="0" err="1">
                <a:solidFill>
                  <a:srgbClr val="A31515"/>
                </a:solidFill>
                <a:latin typeface="Courier New" panose="02070309020205020404" pitchFamily="49" charset="0"/>
              </a:rPr>
              <a:t>nMatriz</a:t>
            </a:r>
            <a:r>
              <a:rPr lang="pt-BR" sz="1050" dirty="0">
                <a:solidFill>
                  <a:srgbClr val="A31515"/>
                </a:solidFill>
                <a:latin typeface="Courier New" panose="02070309020205020404" pitchFamily="49" charset="0"/>
              </a:rPr>
              <a:t> de confusão detalhada do KNN:\n"</a:t>
            </a:r>
            <a:r>
              <a:rPr lang="pt-BR" sz="1050" dirty="0">
                <a:solidFill>
                  <a:srgbClr val="000000"/>
                </a:solidFill>
                <a:latin typeface="Courier New" panose="02070309020205020404" pitchFamily="49" charset="0"/>
              </a:rPr>
              <a:t>,</a:t>
            </a:r>
          </a:p>
          <a:p>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pd.crosstab</a:t>
            </a:r>
            <a:r>
              <a:rPr lang="pt-BR" sz="1050" dirty="0">
                <a:solidFill>
                  <a:srgbClr val="000000"/>
                </a:solidFill>
                <a:latin typeface="Courier New" panose="02070309020205020404" pitchFamily="49" charset="0"/>
              </a:rPr>
              <a:t>(</a:t>
            </a:r>
            <a:r>
              <a:rPr lang="pt-BR" sz="1050" dirty="0" err="1">
                <a:solidFill>
                  <a:srgbClr val="000000"/>
                </a:solidFill>
                <a:latin typeface="Courier New" panose="02070309020205020404" pitchFamily="49" charset="0"/>
              </a:rPr>
              <a:t>y_teste</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predictionsKNN</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rownames</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'Real'</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colnames</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'Predito'</a:t>
            </a:r>
            <a:r>
              <a:rPr lang="pt-BR" sz="1050" dirty="0">
                <a:solidFill>
                  <a:srgbClr val="000000"/>
                </a:solidFill>
                <a:latin typeface="Courier New" panose="02070309020205020404" pitchFamily="49" charset="0"/>
              </a:rPr>
              <a:t>],</a:t>
            </a:r>
          </a:p>
          <a:p>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margins</a:t>
            </a:r>
            <a:r>
              <a:rPr lang="pt-BR" sz="1050" dirty="0">
                <a:solidFill>
                  <a:srgbClr val="000000"/>
                </a:solidFill>
                <a:latin typeface="Courier New" panose="02070309020205020404" pitchFamily="49" charset="0"/>
              </a:rPr>
              <a:t>=</a:t>
            </a:r>
            <a:r>
              <a:rPr lang="pt-BR" sz="1050" dirty="0" err="1">
                <a:solidFill>
                  <a:srgbClr val="0000FF"/>
                </a:solidFill>
                <a:latin typeface="Courier New" panose="02070309020205020404" pitchFamily="49" charset="0"/>
              </a:rPr>
              <a:t>True</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margins_name</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'Todos'</a:t>
            </a:r>
            <a:r>
              <a:rPr lang="pt-BR" sz="1050" dirty="0">
                <a:solidFill>
                  <a:srgbClr val="000000"/>
                </a:solidFill>
                <a:latin typeface="Courier New" panose="02070309020205020404" pitchFamily="49" charset="0"/>
              </a:rPr>
              <a:t>))</a:t>
            </a:r>
          </a:p>
          <a:p>
            <a:br>
              <a:rPr lang="pt-BR" sz="1050" dirty="0">
                <a:solidFill>
                  <a:srgbClr val="000000"/>
                </a:solidFill>
                <a:latin typeface="Courier New" panose="02070309020205020404" pitchFamily="49" charset="0"/>
              </a:rPr>
            </a:br>
            <a:r>
              <a:rPr lang="pt-BR" sz="1050" dirty="0" err="1">
                <a:solidFill>
                  <a:srgbClr val="000000"/>
                </a:solidFill>
                <a:latin typeface="Courier New" panose="02070309020205020404" pitchFamily="49" charset="0"/>
              </a:rPr>
              <a:t>dic_knn</a:t>
            </a:r>
            <a:r>
              <a:rPr lang="pt-BR" sz="1050" dirty="0">
                <a:solidFill>
                  <a:srgbClr val="000000"/>
                </a:solidFill>
                <a:latin typeface="Courier New" panose="02070309020205020404" pitchFamily="49" charset="0"/>
              </a:rPr>
              <a:t> = </a:t>
            </a:r>
            <a:r>
              <a:rPr lang="pt-BR" sz="1050" dirty="0" err="1">
                <a:solidFill>
                  <a:srgbClr val="000000"/>
                </a:solidFill>
                <a:latin typeface="Courier New" panose="02070309020205020404" pitchFamily="49" charset="0"/>
              </a:rPr>
              <a:t>metrics.classification_report</a:t>
            </a:r>
            <a:r>
              <a:rPr lang="pt-BR" sz="1050" dirty="0">
                <a:solidFill>
                  <a:srgbClr val="000000"/>
                </a:solidFill>
                <a:latin typeface="Courier New" panose="02070309020205020404" pitchFamily="49" charset="0"/>
              </a:rPr>
              <a:t>(</a:t>
            </a:r>
            <a:r>
              <a:rPr lang="pt-BR" sz="1050" dirty="0" err="1">
                <a:solidFill>
                  <a:srgbClr val="000000"/>
                </a:solidFill>
                <a:latin typeface="Courier New" panose="02070309020205020404" pitchFamily="49" charset="0"/>
              </a:rPr>
              <a:t>y_teste</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predictionsKNN</a:t>
            </a:r>
            <a:r>
              <a:rPr lang="pt-BR" sz="1050" dirty="0">
                <a:solidFill>
                  <a:srgbClr val="000000"/>
                </a:solidFill>
                <a:latin typeface="Courier New" panose="02070309020205020404" pitchFamily="49" charset="0"/>
              </a:rPr>
              <a:t>, </a:t>
            </a:r>
          </a:p>
          <a:p>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target_names</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'High'</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a:t>
            </a:r>
            <a:r>
              <a:rPr lang="pt-BR" sz="1050" dirty="0" err="1">
                <a:solidFill>
                  <a:srgbClr val="A31515"/>
                </a:solidFill>
                <a:latin typeface="Courier New" panose="02070309020205020404" pitchFamily="49" charset="0"/>
              </a:rPr>
              <a:t>Low</a:t>
            </a:r>
            <a:r>
              <a:rPr lang="pt-BR" sz="1050" dirty="0">
                <a:solidFill>
                  <a:srgbClr val="A31515"/>
                </a:solidFill>
                <a:latin typeface="Courier New" panose="02070309020205020404" pitchFamily="49" charset="0"/>
              </a:rPr>
              <a:t>'</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a:t>
            </a:r>
            <a:r>
              <a:rPr lang="pt-BR" sz="1050" dirty="0" err="1">
                <a:solidFill>
                  <a:srgbClr val="A31515"/>
                </a:solidFill>
                <a:latin typeface="Courier New" panose="02070309020205020404" pitchFamily="49" charset="0"/>
              </a:rPr>
              <a:t>Moderate</a:t>
            </a:r>
            <a:r>
              <a:rPr lang="pt-BR" sz="1050" dirty="0">
                <a:solidFill>
                  <a:srgbClr val="A31515"/>
                </a:solidFill>
                <a:latin typeface="Courier New" panose="02070309020205020404" pitchFamily="49" charset="0"/>
              </a:rPr>
              <a:t>'</a:t>
            </a:r>
            <a:r>
              <a:rPr lang="pt-BR" sz="1050" dirty="0">
                <a:solidFill>
                  <a:srgbClr val="000000"/>
                </a:solidFill>
                <a:latin typeface="Courier New" panose="02070309020205020404" pitchFamily="49" charset="0"/>
              </a:rPr>
              <a:t>],</a:t>
            </a:r>
            <a:r>
              <a:rPr lang="pt-BR" sz="1050" dirty="0" err="1">
                <a:solidFill>
                  <a:srgbClr val="000000"/>
                </a:solidFill>
                <a:latin typeface="Courier New" panose="02070309020205020404" pitchFamily="49" charset="0"/>
              </a:rPr>
              <a:t>output_dict</a:t>
            </a:r>
            <a:r>
              <a:rPr lang="pt-BR" sz="1050" dirty="0">
                <a:solidFill>
                  <a:srgbClr val="000000"/>
                </a:solidFill>
                <a:latin typeface="Courier New" panose="02070309020205020404" pitchFamily="49" charset="0"/>
              </a:rPr>
              <a:t>=</a:t>
            </a:r>
            <a:r>
              <a:rPr lang="pt-BR" sz="1050" dirty="0" err="1">
                <a:solidFill>
                  <a:srgbClr val="0000FF"/>
                </a:solidFill>
                <a:latin typeface="Courier New" panose="02070309020205020404" pitchFamily="49" charset="0"/>
              </a:rPr>
              <a:t>True</a:t>
            </a:r>
            <a:r>
              <a:rPr lang="pt-BR" sz="1050" dirty="0">
                <a:solidFill>
                  <a:srgbClr val="000000"/>
                </a:solidFill>
                <a:latin typeface="Courier New" panose="02070309020205020404" pitchFamily="49" charset="0"/>
              </a:rPr>
              <a:t>)</a:t>
            </a:r>
          </a:p>
          <a:p>
            <a:r>
              <a:rPr lang="pt-BR" sz="1050" dirty="0" err="1">
                <a:solidFill>
                  <a:srgbClr val="000000"/>
                </a:solidFill>
                <a:latin typeface="Courier New" panose="02070309020205020404" pitchFamily="49" charset="0"/>
              </a:rPr>
              <a:t>result_knn</a:t>
            </a:r>
            <a:r>
              <a:rPr lang="pt-BR" sz="1050" dirty="0">
                <a:solidFill>
                  <a:srgbClr val="000000"/>
                </a:solidFill>
                <a:latin typeface="Courier New" panose="02070309020205020404" pitchFamily="49" charset="0"/>
              </a:rPr>
              <a:t> = </a:t>
            </a:r>
            <a:r>
              <a:rPr lang="pt-BR" sz="1050" dirty="0" err="1">
                <a:solidFill>
                  <a:srgbClr val="000000"/>
                </a:solidFill>
                <a:latin typeface="Courier New" panose="02070309020205020404" pitchFamily="49" charset="0"/>
              </a:rPr>
              <a:t>dic_knn</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a:t>
            </a:r>
            <a:r>
              <a:rPr lang="pt-BR" sz="1050" dirty="0" err="1">
                <a:solidFill>
                  <a:srgbClr val="A31515"/>
                </a:solidFill>
                <a:latin typeface="Courier New" panose="02070309020205020404" pitchFamily="49" charset="0"/>
              </a:rPr>
              <a:t>accuracy</a:t>
            </a:r>
            <a:r>
              <a:rPr lang="pt-BR" sz="1050" dirty="0">
                <a:solidFill>
                  <a:srgbClr val="A31515"/>
                </a:solidFill>
                <a:latin typeface="Courier New" panose="02070309020205020404" pitchFamily="49" charset="0"/>
              </a:rPr>
              <a:t>'</a:t>
            </a:r>
            <a:r>
              <a:rPr lang="pt-BR" sz="1050" dirty="0">
                <a:solidFill>
                  <a:srgbClr val="000000"/>
                </a:solidFill>
                <a:latin typeface="Courier New" panose="02070309020205020404" pitchFamily="49" charset="0"/>
              </a:rPr>
              <a:t>]</a:t>
            </a:r>
          </a:p>
          <a:p>
            <a:r>
              <a:rPr lang="pt-BR" sz="1050" dirty="0">
                <a:solidFill>
                  <a:srgbClr val="6A5221"/>
                </a:solidFill>
                <a:latin typeface="Courier New" panose="02070309020205020404" pitchFamily="49" charset="0"/>
              </a:rPr>
              <a:t>print</a:t>
            </a:r>
            <a:r>
              <a:rPr lang="pt-BR" sz="1050" dirty="0">
                <a:solidFill>
                  <a:srgbClr val="000000"/>
                </a:solidFill>
                <a:latin typeface="Courier New" panose="02070309020205020404" pitchFamily="49" charset="0"/>
              </a:rPr>
              <a:t>(</a:t>
            </a:r>
            <a:r>
              <a:rPr lang="pt-BR" sz="1050" dirty="0">
                <a:solidFill>
                  <a:srgbClr val="A31515"/>
                </a:solidFill>
                <a:latin typeface="Courier New" panose="02070309020205020404" pitchFamily="49" charset="0"/>
              </a:rPr>
              <a:t>"Acurácia do KNN: "</a:t>
            </a:r>
            <a:r>
              <a:rPr lang="pt-BR" sz="1050" dirty="0">
                <a:solidFill>
                  <a:srgbClr val="000000"/>
                </a:solidFill>
                <a:latin typeface="Courier New" panose="02070309020205020404" pitchFamily="49" charset="0"/>
              </a:rPr>
              <a:t>, </a:t>
            </a:r>
            <a:r>
              <a:rPr lang="pt-BR" sz="1050" dirty="0" err="1">
                <a:solidFill>
                  <a:srgbClr val="000000"/>
                </a:solidFill>
                <a:latin typeface="Courier New" panose="02070309020205020404" pitchFamily="49" charset="0"/>
              </a:rPr>
              <a:t>result_knn</a:t>
            </a:r>
            <a:r>
              <a:rPr lang="pt-BR" sz="1050" dirty="0">
                <a:solidFill>
                  <a:srgbClr val="000000"/>
                </a:solidFill>
                <a:latin typeface="Courier New" panose="02070309020205020404" pitchFamily="49" charset="0"/>
              </a:rPr>
              <a:t>)</a:t>
            </a:r>
          </a:p>
          <a:p>
            <a:endParaRPr lang="pt-BR" dirty="0"/>
          </a:p>
        </p:txBody>
      </p:sp>
      <p:sp>
        <p:nvSpPr>
          <p:cNvPr id="17" name="Shape 10">
            <a:extLst>
              <a:ext uri="{FF2B5EF4-FFF2-40B4-BE49-F238E27FC236}">
                <a16:creationId xmlns:a16="http://schemas.microsoft.com/office/drawing/2014/main" id="{17EA5E86-E4EB-47F7-8EB3-80CAE49F8020}"/>
              </a:ext>
            </a:extLst>
          </p:cNvPr>
          <p:cNvSpPr/>
          <p:nvPr/>
        </p:nvSpPr>
        <p:spPr>
          <a:xfrm>
            <a:off x="365760" y="1250740"/>
            <a:ext cx="3017520" cy="3566160"/>
          </a:xfrm>
          <a:prstGeom prst="roundRect">
            <a:avLst>
              <a:gd name="adj" fmla="val 3636"/>
            </a:avLst>
          </a:prstGeom>
          <a:solidFill>
            <a:srgbClr val="1A2444"/>
          </a:solidFill>
          <a:ln/>
        </p:spPr>
      </p:sp>
      <p:sp>
        <p:nvSpPr>
          <p:cNvPr id="22" name="Text 3">
            <a:extLst>
              <a:ext uri="{FF2B5EF4-FFF2-40B4-BE49-F238E27FC236}">
                <a16:creationId xmlns:a16="http://schemas.microsoft.com/office/drawing/2014/main" id="{99431CCF-B356-4E7C-861E-40D446AAFD5D}"/>
              </a:ext>
            </a:extLst>
          </p:cNvPr>
          <p:cNvSpPr/>
          <p:nvPr/>
        </p:nvSpPr>
        <p:spPr>
          <a:xfrm>
            <a:off x="803081" y="1703964"/>
            <a:ext cx="2142877" cy="2659711"/>
          </a:xfrm>
          <a:prstGeom prst="rect">
            <a:avLst/>
          </a:prstGeom>
          <a:noFill/>
          <a:ln/>
        </p:spPr>
        <p:txBody>
          <a:bodyPr wrap="square" rtlCol="0" anchor="ctr"/>
          <a:lstStyle/>
          <a:p>
            <a:pPr marL="285750" indent="-285750">
              <a:buFont typeface="Arial" panose="020B0604020202020204" pitchFamily="34" charset="0"/>
              <a:buChar char="•"/>
            </a:pPr>
            <a:r>
              <a:rPr lang="en-US" sz="1600" dirty="0">
                <a:solidFill>
                  <a:schemeClr val="bg1"/>
                </a:solidFill>
              </a:rPr>
              <a:t>KNN </a:t>
            </a:r>
            <a:r>
              <a:rPr lang="en-US" sz="1600" dirty="0" err="1">
                <a:solidFill>
                  <a:schemeClr val="bg1"/>
                </a:solidFill>
              </a:rPr>
              <a:t>possui</a:t>
            </a:r>
            <a:r>
              <a:rPr lang="en-US" sz="1600" dirty="0">
                <a:solidFill>
                  <a:schemeClr val="bg1"/>
                </a:solidFill>
              </a:rPr>
              <a:t> </a:t>
            </a:r>
            <a:r>
              <a:rPr lang="en-US" sz="1600" dirty="0" err="1">
                <a:solidFill>
                  <a:schemeClr val="bg1"/>
                </a:solidFill>
              </a:rPr>
              <a:t>simplicidade</a:t>
            </a:r>
            <a:r>
              <a:rPr lang="en-US" sz="1600" dirty="0">
                <a:solidFill>
                  <a:schemeClr val="bg1"/>
                </a:solidFill>
              </a:rPr>
              <a:t> e </a:t>
            </a:r>
            <a:r>
              <a:rPr lang="en-US" sz="1600" dirty="0" err="1">
                <a:solidFill>
                  <a:schemeClr val="bg1"/>
                </a:solidFill>
              </a:rPr>
              <a:t>eficiência</a:t>
            </a: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err="1">
                <a:solidFill>
                  <a:schemeClr val="bg1"/>
                </a:solidFill>
              </a:rPr>
              <a:t>Funciona</a:t>
            </a:r>
            <a:r>
              <a:rPr lang="en-US" sz="1600" dirty="0">
                <a:solidFill>
                  <a:schemeClr val="bg1"/>
                </a:solidFill>
              </a:rPr>
              <a:t> com a </a:t>
            </a:r>
            <a:r>
              <a:rPr lang="en-US" sz="1600" dirty="0" err="1">
                <a:solidFill>
                  <a:schemeClr val="bg1"/>
                </a:solidFill>
              </a:rPr>
              <a:t>comparação</a:t>
            </a:r>
            <a:r>
              <a:rPr lang="en-US" sz="1600" dirty="0">
                <a:solidFill>
                  <a:schemeClr val="bg1"/>
                </a:solidFill>
              </a:rPr>
              <a:t> entre </a:t>
            </a:r>
            <a:r>
              <a:rPr lang="en-US" sz="1600" dirty="0" err="1">
                <a:solidFill>
                  <a:schemeClr val="bg1"/>
                </a:solidFill>
              </a:rPr>
              <a:t>registros</a:t>
            </a:r>
            <a:r>
              <a:rPr lang="en-US" sz="1600" dirty="0">
                <a:solidFill>
                  <a:schemeClr val="bg1"/>
                </a:solidFill>
              </a:rPr>
              <a:t> </a:t>
            </a:r>
            <a:r>
              <a:rPr lang="en-US" sz="1600" dirty="0" err="1">
                <a:solidFill>
                  <a:schemeClr val="bg1"/>
                </a:solidFill>
              </a:rPr>
              <a:t>semelhantes</a:t>
            </a:r>
            <a:r>
              <a:rPr lang="en-US" sz="1600" dirty="0">
                <a:solidFill>
                  <a:schemeClr val="bg1"/>
                </a:solidFill>
              </a:rPr>
              <a:t>, </a:t>
            </a:r>
            <a:r>
              <a:rPr lang="en-US" sz="1600" dirty="0" err="1">
                <a:solidFill>
                  <a:schemeClr val="bg1"/>
                </a:solidFill>
              </a:rPr>
              <a:t>sendo</a:t>
            </a:r>
            <a:r>
              <a:rPr lang="en-US" sz="1600" dirty="0">
                <a:solidFill>
                  <a:schemeClr val="bg1"/>
                </a:solidFill>
              </a:rPr>
              <a:t> </a:t>
            </a:r>
            <a:r>
              <a:rPr lang="en-US" sz="1600" dirty="0" err="1">
                <a:solidFill>
                  <a:schemeClr val="bg1"/>
                </a:solidFill>
              </a:rPr>
              <a:t>bom</a:t>
            </a:r>
            <a:r>
              <a:rPr lang="en-US" sz="1600" dirty="0">
                <a:solidFill>
                  <a:schemeClr val="bg1"/>
                </a:solidFill>
              </a:rPr>
              <a:t> </a:t>
            </a:r>
            <a:r>
              <a:rPr lang="en-US" sz="1600" dirty="0" err="1">
                <a:solidFill>
                  <a:schemeClr val="bg1"/>
                </a:solidFill>
              </a:rPr>
              <a:t>em</a:t>
            </a:r>
            <a:r>
              <a:rPr lang="en-US" sz="1600" dirty="0">
                <a:solidFill>
                  <a:schemeClr val="bg1"/>
                </a:solidFill>
              </a:rPr>
              <a:t> </a:t>
            </a:r>
            <a:r>
              <a:rPr lang="en-US" sz="1600" dirty="0" err="1">
                <a:solidFill>
                  <a:schemeClr val="bg1"/>
                </a:solidFill>
              </a:rPr>
              <a:t>identificar</a:t>
            </a:r>
            <a:r>
              <a:rPr lang="en-US" sz="1600" dirty="0">
                <a:solidFill>
                  <a:schemeClr val="bg1"/>
                </a:solidFill>
              </a:rPr>
              <a:t> </a:t>
            </a:r>
            <a:r>
              <a:rPr lang="en-US" sz="1600" dirty="0" err="1">
                <a:solidFill>
                  <a:schemeClr val="bg1"/>
                </a:solidFill>
              </a:rPr>
              <a:t>padrões</a:t>
            </a:r>
            <a:endParaRPr lang="en-US" sz="1600" dirty="0">
              <a:solidFill>
                <a:schemeClr val="bg1"/>
              </a:solidFill>
            </a:endParaRPr>
          </a:p>
        </p:txBody>
      </p:sp>
    </p:spTree>
    <p:extLst>
      <p:ext uri="{BB962C8B-B14F-4D97-AF65-F5344CB8AC3E}">
        <p14:creationId xmlns:p14="http://schemas.microsoft.com/office/powerpoint/2010/main" val="4176478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r>
              <a:rPr lang="en-US" sz="2600" b="1" dirty="0">
                <a:solidFill>
                  <a:srgbClr val="FFFFFF"/>
                </a:solidFill>
              </a:rPr>
              <a:t>Base de Dados - </a:t>
            </a:r>
            <a:r>
              <a:rPr lang="en-US" sz="2600" b="1" dirty="0" err="1">
                <a:solidFill>
                  <a:srgbClr val="FFFFFF"/>
                </a:solidFill>
              </a:rPr>
              <a:t>Regressão</a:t>
            </a:r>
            <a:r>
              <a:rPr lang="en-US" sz="2600" b="1" dirty="0">
                <a:solidFill>
                  <a:srgbClr val="FFFFFF"/>
                </a:solidFill>
              </a:rPr>
              <a:t> </a:t>
            </a:r>
            <a:r>
              <a:rPr lang="en-US" sz="2600" b="1" dirty="0" err="1">
                <a:solidFill>
                  <a:srgbClr val="FFFFFF"/>
                </a:solidFill>
              </a:rPr>
              <a:t>Logística</a:t>
            </a:r>
            <a:endParaRPr lang="en-US" sz="2600" dirty="0"/>
          </a:p>
        </p:txBody>
      </p:sp>
      <p:sp>
        <p:nvSpPr>
          <p:cNvPr id="4" name="Shape 2"/>
          <p:cNvSpPr/>
          <p:nvPr/>
        </p:nvSpPr>
        <p:spPr>
          <a:xfrm>
            <a:off x="365760" y="1234439"/>
            <a:ext cx="5029200" cy="3566159"/>
          </a:xfrm>
          <a:prstGeom prst="roundRect">
            <a:avLst>
              <a:gd name="adj" fmla="val 9756"/>
            </a:avLst>
          </a:prstGeom>
          <a:solidFill>
            <a:srgbClr val="E8F4F8"/>
          </a:solidFill>
          <a:ln>
            <a:solidFill>
              <a:srgbClr val="1A2444"/>
            </a:solidFill>
          </a:ln>
        </p:spPr>
        <p:txBody>
          <a:bodyPr/>
          <a:lstStyle/>
          <a:p>
            <a:r>
              <a:rPr lang="pt-BR" sz="1000" dirty="0">
                <a:solidFill>
                  <a:srgbClr val="008000"/>
                </a:solidFill>
                <a:latin typeface="Courier New" panose="02070309020205020404" pitchFamily="49" charset="0"/>
              </a:rPr>
              <a:t># APLICANDO O ALGORITMO DE REGRESSÃO LOGÍSTICA (Classificador Linear) #</a:t>
            </a:r>
            <a:endParaRPr lang="pt-BR" sz="1000" dirty="0">
              <a:solidFill>
                <a:srgbClr val="000000"/>
              </a:solidFill>
              <a:latin typeface="Courier New" panose="02070309020205020404" pitchFamily="49" charset="0"/>
            </a:endParaRPr>
          </a:p>
          <a:p>
            <a:r>
              <a:rPr lang="pt-BR" sz="1000" dirty="0" err="1">
                <a:solidFill>
                  <a:srgbClr val="9723B4"/>
                </a:solidFill>
                <a:latin typeface="Courier New" panose="02070309020205020404" pitchFamily="49" charset="0"/>
              </a:rPr>
              <a:t>from</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sklearn.linear_model</a:t>
            </a:r>
            <a:r>
              <a:rPr lang="pt-BR" sz="1000" dirty="0">
                <a:solidFill>
                  <a:srgbClr val="000000"/>
                </a:solidFill>
                <a:latin typeface="Courier New" panose="02070309020205020404" pitchFamily="49" charset="0"/>
              </a:rPr>
              <a:t> </a:t>
            </a:r>
            <a:r>
              <a:rPr lang="pt-BR" sz="1000" dirty="0" err="1">
                <a:solidFill>
                  <a:srgbClr val="9723B4"/>
                </a:solidFill>
                <a:latin typeface="Courier New" panose="02070309020205020404" pitchFamily="49" charset="0"/>
              </a:rPr>
              <a:t>import</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LogisticRegression</a:t>
            </a:r>
            <a:endParaRPr lang="pt-BR" sz="1000" dirty="0">
              <a:solidFill>
                <a:srgbClr val="000000"/>
              </a:solidFill>
              <a:latin typeface="Courier New" panose="02070309020205020404" pitchFamily="49" charset="0"/>
            </a:endParaRPr>
          </a:p>
          <a:p>
            <a:r>
              <a:rPr lang="pt-BR" sz="1000" dirty="0" err="1">
                <a:solidFill>
                  <a:srgbClr val="9723B4"/>
                </a:solidFill>
                <a:latin typeface="Courier New" panose="02070309020205020404" pitchFamily="49" charset="0"/>
              </a:rPr>
              <a:t>from</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sklearn</a:t>
            </a:r>
            <a:r>
              <a:rPr lang="pt-BR" sz="1000" dirty="0">
                <a:solidFill>
                  <a:srgbClr val="000000"/>
                </a:solidFill>
                <a:latin typeface="Courier New" panose="02070309020205020404" pitchFamily="49" charset="0"/>
              </a:rPr>
              <a:t> </a:t>
            </a:r>
            <a:r>
              <a:rPr lang="pt-BR" sz="1000" dirty="0" err="1">
                <a:solidFill>
                  <a:srgbClr val="9723B4"/>
                </a:solidFill>
                <a:latin typeface="Courier New" panose="02070309020205020404" pitchFamily="49" charset="0"/>
              </a:rPr>
              <a:t>import</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metrics</a:t>
            </a:r>
            <a:endParaRPr lang="pt-BR" sz="1000" dirty="0">
              <a:solidFill>
                <a:srgbClr val="000000"/>
              </a:solidFill>
              <a:latin typeface="Courier New" panose="02070309020205020404" pitchFamily="49" charset="0"/>
            </a:endParaRPr>
          </a:p>
          <a:p>
            <a:br>
              <a:rPr lang="pt-BR" sz="1000" dirty="0">
                <a:solidFill>
                  <a:srgbClr val="000000"/>
                </a:solidFill>
                <a:latin typeface="Courier New" panose="02070309020205020404" pitchFamily="49" charset="0"/>
              </a:rPr>
            </a:br>
            <a:r>
              <a:rPr lang="pt-BR" sz="1000" dirty="0" err="1">
                <a:solidFill>
                  <a:srgbClr val="000000"/>
                </a:solidFill>
                <a:latin typeface="Courier New" panose="02070309020205020404" pitchFamily="49" charset="0"/>
              </a:rPr>
              <a:t>modelolr</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LogisticRegression</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max_iter</a:t>
            </a:r>
            <a:r>
              <a:rPr lang="pt-BR" sz="1000" dirty="0">
                <a:solidFill>
                  <a:srgbClr val="000000"/>
                </a:solidFill>
                <a:latin typeface="Courier New" panose="02070309020205020404" pitchFamily="49" charset="0"/>
              </a:rPr>
              <a:t>=</a:t>
            </a:r>
            <a:r>
              <a:rPr lang="pt-BR" sz="1000" dirty="0">
                <a:solidFill>
                  <a:srgbClr val="116644"/>
                </a:solidFill>
                <a:latin typeface="Courier New" panose="02070309020205020404" pitchFamily="49" charset="0"/>
              </a:rPr>
              <a:t>1000</a:t>
            </a:r>
            <a:r>
              <a:rPr lang="pt-BR" sz="1000" dirty="0">
                <a:solidFill>
                  <a:srgbClr val="000000"/>
                </a:solidFill>
                <a:latin typeface="Courier New" panose="02070309020205020404" pitchFamily="49" charset="0"/>
              </a:rPr>
              <a:t>)</a:t>
            </a:r>
          </a:p>
          <a:p>
            <a:r>
              <a:rPr lang="pt-BR" sz="1000" dirty="0" err="1">
                <a:solidFill>
                  <a:srgbClr val="000000"/>
                </a:solidFill>
                <a:latin typeface="Courier New" panose="02070309020205020404" pitchFamily="49" charset="0"/>
              </a:rPr>
              <a:t>modelolr.fit</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X_treino</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y_treino</a:t>
            </a:r>
            <a:r>
              <a:rPr lang="pt-BR" sz="1000" dirty="0">
                <a:solidFill>
                  <a:srgbClr val="000000"/>
                </a:solidFill>
                <a:latin typeface="Courier New" panose="02070309020205020404" pitchFamily="49" charset="0"/>
              </a:rPr>
              <a:t>)</a:t>
            </a:r>
          </a:p>
          <a:p>
            <a:br>
              <a:rPr lang="pt-BR" sz="1000" dirty="0">
                <a:solidFill>
                  <a:srgbClr val="000000"/>
                </a:solidFill>
                <a:latin typeface="Courier New" panose="02070309020205020404" pitchFamily="49" charset="0"/>
              </a:rPr>
            </a:br>
            <a:r>
              <a:rPr lang="pt-BR" sz="1000" dirty="0" err="1">
                <a:solidFill>
                  <a:srgbClr val="000000"/>
                </a:solidFill>
                <a:latin typeface="Courier New" panose="02070309020205020404" pitchFamily="49" charset="0"/>
              </a:rPr>
              <a:t>predictionsLR</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modelolr.predict</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X_teste</a:t>
            </a:r>
            <a:r>
              <a:rPr lang="pt-BR" sz="1000" dirty="0">
                <a:solidFill>
                  <a:srgbClr val="000000"/>
                </a:solidFill>
                <a:latin typeface="Courier New" panose="02070309020205020404" pitchFamily="49" charset="0"/>
              </a:rPr>
              <a:t>)</a:t>
            </a:r>
          </a:p>
          <a:p>
            <a:br>
              <a:rPr lang="pt-BR" sz="1000" dirty="0">
                <a:solidFill>
                  <a:srgbClr val="000000"/>
                </a:solidFill>
                <a:latin typeface="Courier New" panose="02070309020205020404" pitchFamily="49" charset="0"/>
              </a:rPr>
            </a:br>
            <a:r>
              <a:rPr lang="pt-BR" sz="1000" dirty="0">
                <a:solidFill>
                  <a:srgbClr val="6A5221"/>
                </a:solidFill>
                <a:latin typeface="Courier New" panose="02070309020205020404" pitchFamily="49" charset="0"/>
              </a:rPr>
              <a:t>print</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nMatriz</a:t>
            </a:r>
            <a:r>
              <a:rPr lang="pt-BR" sz="1000" dirty="0">
                <a:solidFill>
                  <a:srgbClr val="A31515"/>
                </a:solidFill>
                <a:latin typeface="Courier New" panose="02070309020205020404" pitchFamily="49" charset="0"/>
              </a:rPr>
              <a:t> de confusão detalhada da Regressão Logística:\n"</a:t>
            </a:r>
            <a:r>
              <a:rPr lang="pt-BR" sz="1000" dirty="0">
                <a:solidFill>
                  <a:srgbClr val="000000"/>
                </a:solidFill>
                <a:latin typeface="Courier New" panose="02070309020205020404" pitchFamily="49" charset="0"/>
              </a:rPr>
              <a:t>,</a:t>
            </a:r>
          </a:p>
          <a:p>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pd.crosstab</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y_teste</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predictionsLR</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rownames</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'Real'</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colnames</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'Predito'</a:t>
            </a:r>
            <a:r>
              <a:rPr lang="pt-BR" sz="1000" dirty="0">
                <a:solidFill>
                  <a:srgbClr val="000000"/>
                </a:solidFill>
                <a:latin typeface="Courier New" panose="02070309020205020404" pitchFamily="49" charset="0"/>
              </a:rPr>
              <a:t>],</a:t>
            </a:r>
          </a:p>
          <a:p>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margins</a:t>
            </a:r>
            <a:r>
              <a:rPr lang="pt-BR" sz="1000" dirty="0">
                <a:solidFill>
                  <a:srgbClr val="000000"/>
                </a:solidFill>
                <a:latin typeface="Courier New" panose="02070309020205020404" pitchFamily="49" charset="0"/>
              </a:rPr>
              <a:t>=</a:t>
            </a:r>
            <a:r>
              <a:rPr lang="pt-BR" sz="1000" dirty="0" err="1">
                <a:solidFill>
                  <a:srgbClr val="0000FF"/>
                </a:solidFill>
                <a:latin typeface="Courier New" panose="02070309020205020404" pitchFamily="49" charset="0"/>
              </a:rPr>
              <a:t>True</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margins_name</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'Todos'</a:t>
            </a:r>
            <a:r>
              <a:rPr lang="pt-BR" sz="1000" dirty="0">
                <a:solidFill>
                  <a:srgbClr val="000000"/>
                </a:solidFill>
                <a:latin typeface="Courier New" panose="02070309020205020404" pitchFamily="49" charset="0"/>
              </a:rPr>
              <a:t>))</a:t>
            </a:r>
          </a:p>
          <a:p>
            <a:br>
              <a:rPr lang="pt-BR" sz="1000" dirty="0">
                <a:solidFill>
                  <a:srgbClr val="000000"/>
                </a:solidFill>
                <a:latin typeface="Courier New" panose="02070309020205020404" pitchFamily="49" charset="0"/>
              </a:rPr>
            </a:br>
            <a:r>
              <a:rPr lang="pt-BR" sz="1000" dirty="0" err="1">
                <a:solidFill>
                  <a:srgbClr val="000000"/>
                </a:solidFill>
                <a:latin typeface="Courier New" panose="02070309020205020404" pitchFamily="49" charset="0"/>
              </a:rPr>
              <a:t>dic_lr</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metrics.classification_report</a:t>
            </a:r>
            <a:r>
              <a:rPr lang="pt-BR" sz="1000" dirty="0">
                <a:solidFill>
                  <a:srgbClr val="000000"/>
                </a:solidFill>
                <a:latin typeface="Courier New" panose="02070309020205020404" pitchFamily="49" charset="0"/>
              </a:rPr>
              <a:t>(</a:t>
            </a:r>
            <a:r>
              <a:rPr lang="pt-BR" sz="1000" dirty="0" err="1">
                <a:solidFill>
                  <a:srgbClr val="000000"/>
                </a:solidFill>
                <a:latin typeface="Courier New" panose="02070309020205020404" pitchFamily="49" charset="0"/>
              </a:rPr>
              <a:t>y_teste</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predictionsLR</a:t>
            </a:r>
            <a:r>
              <a:rPr lang="pt-BR" sz="1000" dirty="0">
                <a:solidFill>
                  <a:srgbClr val="000000"/>
                </a:solidFill>
                <a:latin typeface="Courier New" panose="02070309020205020404" pitchFamily="49" charset="0"/>
              </a:rPr>
              <a:t>, </a:t>
            </a:r>
          </a:p>
          <a:p>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target_names</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'High'</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Low</a:t>
            </a:r>
            <a:r>
              <a:rPr lang="pt-BR" sz="1000" dirty="0">
                <a:solidFill>
                  <a:srgbClr val="A31515"/>
                </a:solidFill>
                <a:latin typeface="Courier New" panose="02070309020205020404" pitchFamily="49" charset="0"/>
              </a:rPr>
              <a:t>'</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Moderate</a:t>
            </a:r>
            <a:r>
              <a:rPr lang="pt-BR" sz="1000" dirty="0">
                <a:solidFill>
                  <a:srgbClr val="A31515"/>
                </a:solidFill>
                <a:latin typeface="Courier New" panose="02070309020205020404" pitchFamily="49" charset="0"/>
              </a:rPr>
              <a:t>'</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output_dict</a:t>
            </a:r>
            <a:r>
              <a:rPr lang="pt-BR" sz="1000" dirty="0">
                <a:solidFill>
                  <a:srgbClr val="000000"/>
                </a:solidFill>
                <a:latin typeface="Courier New" panose="02070309020205020404" pitchFamily="49" charset="0"/>
              </a:rPr>
              <a:t>=</a:t>
            </a:r>
            <a:r>
              <a:rPr lang="pt-BR" sz="1000" dirty="0" err="1">
                <a:solidFill>
                  <a:srgbClr val="0000FF"/>
                </a:solidFill>
                <a:latin typeface="Courier New" panose="02070309020205020404" pitchFamily="49" charset="0"/>
              </a:rPr>
              <a:t>True</a:t>
            </a:r>
            <a:r>
              <a:rPr lang="pt-BR" sz="1000" dirty="0">
                <a:solidFill>
                  <a:srgbClr val="000000"/>
                </a:solidFill>
                <a:latin typeface="Courier New" panose="02070309020205020404" pitchFamily="49" charset="0"/>
              </a:rPr>
              <a:t>)</a:t>
            </a:r>
          </a:p>
          <a:p>
            <a:r>
              <a:rPr lang="pt-BR" sz="1000" dirty="0" err="1">
                <a:solidFill>
                  <a:srgbClr val="000000"/>
                </a:solidFill>
                <a:latin typeface="Courier New" panose="02070309020205020404" pitchFamily="49" charset="0"/>
              </a:rPr>
              <a:t>result_lr</a:t>
            </a:r>
            <a:r>
              <a:rPr lang="pt-BR" sz="1000" dirty="0">
                <a:solidFill>
                  <a:srgbClr val="000000"/>
                </a:solidFill>
                <a:latin typeface="Courier New" panose="02070309020205020404" pitchFamily="49" charset="0"/>
              </a:rPr>
              <a:t> = </a:t>
            </a:r>
            <a:r>
              <a:rPr lang="pt-BR" sz="1000" dirty="0" err="1">
                <a:solidFill>
                  <a:srgbClr val="000000"/>
                </a:solidFill>
                <a:latin typeface="Courier New" panose="02070309020205020404" pitchFamily="49" charset="0"/>
              </a:rPr>
              <a:t>dic_lr</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t>
            </a:r>
            <a:r>
              <a:rPr lang="pt-BR" sz="1000" dirty="0" err="1">
                <a:solidFill>
                  <a:srgbClr val="A31515"/>
                </a:solidFill>
                <a:latin typeface="Courier New" panose="02070309020205020404" pitchFamily="49" charset="0"/>
              </a:rPr>
              <a:t>accuracy</a:t>
            </a:r>
            <a:r>
              <a:rPr lang="pt-BR" sz="1000" dirty="0">
                <a:solidFill>
                  <a:srgbClr val="A31515"/>
                </a:solidFill>
                <a:latin typeface="Courier New" panose="02070309020205020404" pitchFamily="49" charset="0"/>
              </a:rPr>
              <a:t>'</a:t>
            </a:r>
            <a:r>
              <a:rPr lang="pt-BR" sz="1000" dirty="0">
                <a:solidFill>
                  <a:srgbClr val="000000"/>
                </a:solidFill>
                <a:latin typeface="Courier New" panose="02070309020205020404" pitchFamily="49" charset="0"/>
              </a:rPr>
              <a:t>]</a:t>
            </a:r>
          </a:p>
          <a:p>
            <a:r>
              <a:rPr lang="pt-BR" sz="1000" dirty="0">
                <a:solidFill>
                  <a:srgbClr val="6A5221"/>
                </a:solidFill>
                <a:latin typeface="Courier New" panose="02070309020205020404" pitchFamily="49" charset="0"/>
              </a:rPr>
              <a:t>print</a:t>
            </a:r>
            <a:r>
              <a:rPr lang="pt-BR" sz="1000" dirty="0">
                <a:solidFill>
                  <a:srgbClr val="000000"/>
                </a:solidFill>
                <a:latin typeface="Courier New" panose="02070309020205020404" pitchFamily="49" charset="0"/>
              </a:rPr>
              <a:t>(</a:t>
            </a:r>
            <a:r>
              <a:rPr lang="pt-BR" sz="1000" dirty="0">
                <a:solidFill>
                  <a:srgbClr val="A31515"/>
                </a:solidFill>
                <a:latin typeface="Courier New" panose="02070309020205020404" pitchFamily="49" charset="0"/>
              </a:rPr>
              <a:t>"Acurácia da Regressão Logística: "</a:t>
            </a:r>
            <a:r>
              <a:rPr lang="pt-BR" sz="1000" dirty="0">
                <a:solidFill>
                  <a:srgbClr val="000000"/>
                </a:solidFill>
                <a:latin typeface="Courier New" panose="02070309020205020404" pitchFamily="49" charset="0"/>
              </a:rPr>
              <a:t>, </a:t>
            </a:r>
            <a:r>
              <a:rPr lang="pt-BR" sz="1000" dirty="0" err="1">
                <a:solidFill>
                  <a:srgbClr val="000000"/>
                </a:solidFill>
                <a:latin typeface="Courier New" panose="02070309020205020404" pitchFamily="49" charset="0"/>
              </a:rPr>
              <a:t>result_lr</a:t>
            </a:r>
            <a:r>
              <a:rPr lang="pt-BR" sz="1000" dirty="0">
                <a:solidFill>
                  <a:srgbClr val="000000"/>
                </a:solidFill>
                <a:latin typeface="Courier New" panose="02070309020205020404" pitchFamily="49" charset="0"/>
              </a:rPr>
              <a:t>)</a:t>
            </a:r>
          </a:p>
          <a:p>
            <a:endParaRPr lang="pt-BR" dirty="0"/>
          </a:p>
        </p:txBody>
      </p:sp>
      <p:sp>
        <p:nvSpPr>
          <p:cNvPr id="12" name="Shape 10"/>
          <p:cNvSpPr/>
          <p:nvPr/>
        </p:nvSpPr>
        <p:spPr>
          <a:xfrm>
            <a:off x="5760720" y="1234440"/>
            <a:ext cx="3017520" cy="3566160"/>
          </a:xfrm>
          <a:prstGeom prst="roundRect">
            <a:avLst>
              <a:gd name="adj" fmla="val 3636"/>
            </a:avLst>
          </a:prstGeom>
          <a:solidFill>
            <a:srgbClr val="1A2444"/>
          </a:solidFill>
          <a:ln/>
        </p:spPr>
      </p:sp>
      <p:sp>
        <p:nvSpPr>
          <p:cNvPr id="17" name="Text 3">
            <a:extLst>
              <a:ext uri="{FF2B5EF4-FFF2-40B4-BE49-F238E27FC236}">
                <a16:creationId xmlns:a16="http://schemas.microsoft.com/office/drawing/2014/main" id="{844E0F85-AA73-46DC-A089-58DB738CF659}"/>
              </a:ext>
            </a:extLst>
          </p:cNvPr>
          <p:cNvSpPr/>
          <p:nvPr/>
        </p:nvSpPr>
        <p:spPr>
          <a:xfrm>
            <a:off x="6198041" y="1687662"/>
            <a:ext cx="2142877" cy="2659711"/>
          </a:xfrm>
          <a:prstGeom prst="rect">
            <a:avLst/>
          </a:prstGeom>
          <a:noFill/>
          <a:ln/>
        </p:spPr>
        <p:txBody>
          <a:bodyPr wrap="square" rtlCol="0" anchor="ctr"/>
          <a:lstStyle/>
          <a:p>
            <a:pPr marL="285750" indent="-285750">
              <a:buFont typeface="Arial" panose="020B0604020202020204" pitchFamily="34" charset="0"/>
              <a:buChar char="•"/>
            </a:pPr>
            <a:r>
              <a:rPr lang="en-US" sz="1600" dirty="0">
                <a:solidFill>
                  <a:schemeClr val="bg1"/>
                </a:solidFill>
              </a:rPr>
              <a:t>Um dos </a:t>
            </a:r>
            <a:r>
              <a:rPr lang="en-US" sz="1600" dirty="0" err="1">
                <a:solidFill>
                  <a:schemeClr val="bg1"/>
                </a:solidFill>
              </a:rPr>
              <a:t>algoritmos</a:t>
            </a:r>
            <a:r>
              <a:rPr lang="en-US" sz="1600" dirty="0">
                <a:solidFill>
                  <a:schemeClr val="bg1"/>
                </a:solidFill>
              </a:rPr>
              <a:t> </a:t>
            </a:r>
            <a:r>
              <a:rPr lang="en-US" sz="1600" dirty="0" err="1">
                <a:solidFill>
                  <a:schemeClr val="bg1"/>
                </a:solidFill>
              </a:rPr>
              <a:t>mais</a:t>
            </a:r>
            <a:r>
              <a:rPr lang="en-US" sz="1600" dirty="0">
                <a:solidFill>
                  <a:schemeClr val="bg1"/>
                </a:solidFill>
              </a:rPr>
              <a:t> </a:t>
            </a:r>
            <a:r>
              <a:rPr lang="en-US" sz="1600" dirty="0" err="1">
                <a:solidFill>
                  <a:schemeClr val="bg1"/>
                </a:solidFill>
              </a:rPr>
              <a:t>utilizados</a:t>
            </a:r>
            <a:r>
              <a:rPr lang="en-US" sz="1600" dirty="0">
                <a:solidFill>
                  <a:schemeClr val="bg1"/>
                </a:solidFill>
              </a:rPr>
              <a:t> </a:t>
            </a:r>
            <a:r>
              <a:rPr lang="en-US" sz="1600" dirty="0" err="1">
                <a:solidFill>
                  <a:schemeClr val="bg1"/>
                </a:solidFill>
              </a:rPr>
              <a:t>em</a:t>
            </a:r>
            <a:r>
              <a:rPr lang="en-US" sz="1600" dirty="0">
                <a:solidFill>
                  <a:schemeClr val="bg1"/>
                </a:solidFill>
              </a:rPr>
              <a:t> </a:t>
            </a:r>
            <a:r>
              <a:rPr lang="en-US" sz="1600" dirty="0" err="1">
                <a:solidFill>
                  <a:schemeClr val="bg1"/>
                </a:solidFill>
              </a:rPr>
              <a:t>problemas</a:t>
            </a:r>
            <a:r>
              <a:rPr lang="en-US" sz="1600" dirty="0">
                <a:solidFill>
                  <a:schemeClr val="bg1"/>
                </a:solidFill>
              </a:rPr>
              <a:t> de </a:t>
            </a:r>
            <a:r>
              <a:rPr lang="en-US" sz="1600" dirty="0" err="1">
                <a:solidFill>
                  <a:schemeClr val="bg1"/>
                </a:solidFill>
              </a:rPr>
              <a:t>classificação</a:t>
            </a: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err="1">
                <a:solidFill>
                  <a:schemeClr val="bg1"/>
                </a:solidFill>
              </a:rPr>
              <a:t>Estima</a:t>
            </a:r>
            <a:r>
              <a:rPr lang="en-US" sz="1600" dirty="0">
                <a:solidFill>
                  <a:schemeClr val="bg1"/>
                </a:solidFill>
              </a:rPr>
              <a:t> a </a:t>
            </a:r>
            <a:r>
              <a:rPr lang="en-US" sz="1600" dirty="0" err="1">
                <a:solidFill>
                  <a:schemeClr val="bg1"/>
                </a:solidFill>
              </a:rPr>
              <a:t>probabilidade</a:t>
            </a:r>
            <a:r>
              <a:rPr lang="en-US" sz="1600" dirty="0">
                <a:solidFill>
                  <a:schemeClr val="bg1"/>
                </a:solidFill>
              </a:rPr>
              <a:t> de </a:t>
            </a:r>
            <a:r>
              <a:rPr lang="en-US" sz="1600" dirty="0" err="1">
                <a:solidFill>
                  <a:schemeClr val="bg1"/>
                </a:solidFill>
              </a:rPr>
              <a:t>ocorrência</a:t>
            </a:r>
            <a:r>
              <a:rPr lang="en-US" sz="1600" dirty="0">
                <a:solidFill>
                  <a:schemeClr val="bg1"/>
                </a:solidFill>
              </a:rPr>
              <a:t> de </a:t>
            </a:r>
            <a:r>
              <a:rPr lang="en-US" sz="1600" dirty="0" err="1">
                <a:solidFill>
                  <a:schemeClr val="bg1"/>
                </a:solidFill>
              </a:rPr>
              <a:t>cada</a:t>
            </a:r>
            <a:r>
              <a:rPr lang="en-US" sz="1600" dirty="0">
                <a:solidFill>
                  <a:schemeClr val="bg1"/>
                </a:solidFill>
              </a:rPr>
              <a:t> </a:t>
            </a:r>
            <a:r>
              <a:rPr lang="en-US" sz="1600" dirty="0" err="1">
                <a:solidFill>
                  <a:schemeClr val="bg1"/>
                </a:solidFill>
              </a:rPr>
              <a:t>classe</a:t>
            </a:r>
            <a:r>
              <a:rPr lang="en-US" sz="1600" dirty="0">
                <a:solidFill>
                  <a:schemeClr val="bg1"/>
                </a:solidFill>
              </a:rPr>
              <a:t>, </a:t>
            </a:r>
            <a:r>
              <a:rPr lang="en-US" sz="1600" dirty="0" err="1">
                <a:solidFill>
                  <a:schemeClr val="bg1"/>
                </a:solidFill>
              </a:rPr>
              <a:t>sendo</a:t>
            </a:r>
            <a:r>
              <a:rPr lang="en-US" sz="1600" dirty="0">
                <a:solidFill>
                  <a:schemeClr val="bg1"/>
                </a:solidFill>
              </a:rPr>
              <a:t> </a:t>
            </a:r>
            <a:r>
              <a:rPr lang="en-US" sz="1600" dirty="0" err="1">
                <a:solidFill>
                  <a:schemeClr val="bg1"/>
                </a:solidFill>
              </a:rPr>
              <a:t>uma</a:t>
            </a:r>
            <a:r>
              <a:rPr lang="en-US" sz="1600" dirty="0">
                <a:solidFill>
                  <a:schemeClr val="bg1"/>
                </a:solidFill>
              </a:rPr>
              <a:t> </a:t>
            </a:r>
            <a:r>
              <a:rPr lang="en-US" sz="1600" dirty="0" err="1">
                <a:solidFill>
                  <a:schemeClr val="bg1"/>
                </a:solidFill>
              </a:rPr>
              <a:t>importante</a:t>
            </a:r>
            <a:r>
              <a:rPr lang="en-US" sz="1600" dirty="0">
                <a:solidFill>
                  <a:schemeClr val="bg1"/>
                </a:solidFill>
              </a:rPr>
              <a:t> </a:t>
            </a:r>
            <a:r>
              <a:rPr lang="en-US" sz="1600" dirty="0" err="1">
                <a:solidFill>
                  <a:schemeClr val="bg1"/>
                </a:solidFill>
              </a:rPr>
              <a:t>referência</a:t>
            </a:r>
            <a:r>
              <a:rPr lang="en-US" sz="1600" dirty="0">
                <a:solidFill>
                  <a:schemeClr val="bg1"/>
                </a:solidFill>
              </a:rPr>
              <a:t> para </a:t>
            </a:r>
            <a:r>
              <a:rPr lang="en-US" sz="1600" dirty="0" err="1">
                <a:solidFill>
                  <a:schemeClr val="bg1"/>
                </a:solidFill>
              </a:rPr>
              <a:t>os</a:t>
            </a:r>
            <a:r>
              <a:rPr lang="en-US" sz="1600" dirty="0">
                <a:solidFill>
                  <a:schemeClr val="bg1"/>
                </a:solidFill>
              </a:rPr>
              <a:t> </a:t>
            </a:r>
            <a:r>
              <a:rPr lang="en-US" sz="1600" dirty="0" err="1">
                <a:solidFill>
                  <a:schemeClr val="bg1"/>
                </a:solidFill>
              </a:rPr>
              <a:t>demais</a:t>
            </a:r>
            <a:r>
              <a:rPr lang="en-US" sz="1600" dirty="0">
                <a:solidFill>
                  <a:schemeClr val="bg1"/>
                </a:solidFill>
              </a:rPr>
              <a:t> </a:t>
            </a:r>
            <a:r>
              <a:rPr lang="en-US" sz="1600" dirty="0" err="1">
                <a:solidFill>
                  <a:schemeClr val="bg1"/>
                </a:solidFill>
              </a:rPr>
              <a:t>modelos</a:t>
            </a:r>
            <a:endParaRPr lang="en-US" sz="1600" dirty="0">
              <a:solidFill>
                <a:schemeClr val="bg1"/>
              </a:solidFill>
            </a:endParaRPr>
          </a:p>
        </p:txBody>
      </p:sp>
    </p:spTree>
    <p:extLst>
      <p:ext uri="{BB962C8B-B14F-4D97-AF65-F5344CB8AC3E}">
        <p14:creationId xmlns:p14="http://schemas.microsoft.com/office/powerpoint/2010/main" val="3155090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r>
              <a:rPr lang="en-US" sz="2600" b="1" dirty="0">
                <a:solidFill>
                  <a:srgbClr val="FFFFFF"/>
                </a:solidFill>
              </a:rPr>
              <a:t>Base de Dados - </a:t>
            </a:r>
            <a:r>
              <a:rPr lang="en-US" sz="2600" b="1" dirty="0" err="1">
                <a:solidFill>
                  <a:srgbClr val="FFFFFF"/>
                </a:solidFill>
              </a:rPr>
              <a:t>Comitê</a:t>
            </a:r>
            <a:r>
              <a:rPr lang="en-US" sz="2600" b="1" dirty="0">
                <a:solidFill>
                  <a:srgbClr val="FFFFFF"/>
                </a:solidFill>
              </a:rPr>
              <a:t> </a:t>
            </a:r>
            <a:r>
              <a:rPr lang="en-US" sz="2600" b="1" dirty="0" err="1">
                <a:solidFill>
                  <a:srgbClr val="FFFFFF"/>
                </a:solidFill>
              </a:rPr>
              <a:t>Classificadores</a:t>
            </a:r>
            <a:endParaRPr lang="en-US" sz="2600" dirty="0"/>
          </a:p>
        </p:txBody>
      </p:sp>
      <p:sp>
        <p:nvSpPr>
          <p:cNvPr id="17" name="Shape 10">
            <a:extLst>
              <a:ext uri="{FF2B5EF4-FFF2-40B4-BE49-F238E27FC236}">
                <a16:creationId xmlns:a16="http://schemas.microsoft.com/office/drawing/2014/main" id="{17EA5E86-E4EB-47F7-8EB3-80CAE49F8020}"/>
              </a:ext>
            </a:extLst>
          </p:cNvPr>
          <p:cNvSpPr/>
          <p:nvPr/>
        </p:nvSpPr>
        <p:spPr>
          <a:xfrm>
            <a:off x="365760" y="1250740"/>
            <a:ext cx="3017520" cy="3566160"/>
          </a:xfrm>
          <a:prstGeom prst="roundRect">
            <a:avLst>
              <a:gd name="adj" fmla="val 3636"/>
            </a:avLst>
          </a:prstGeom>
          <a:solidFill>
            <a:srgbClr val="1A2444"/>
          </a:solidFill>
          <a:ln/>
        </p:spPr>
      </p:sp>
      <p:sp>
        <p:nvSpPr>
          <p:cNvPr id="22" name="Text 3">
            <a:extLst>
              <a:ext uri="{FF2B5EF4-FFF2-40B4-BE49-F238E27FC236}">
                <a16:creationId xmlns:a16="http://schemas.microsoft.com/office/drawing/2014/main" id="{99431CCF-B356-4E7C-861E-40D446AAFD5D}"/>
              </a:ext>
            </a:extLst>
          </p:cNvPr>
          <p:cNvSpPr/>
          <p:nvPr/>
        </p:nvSpPr>
        <p:spPr>
          <a:xfrm>
            <a:off x="803081" y="1703964"/>
            <a:ext cx="2142877" cy="2659711"/>
          </a:xfrm>
          <a:prstGeom prst="rect">
            <a:avLst/>
          </a:prstGeom>
          <a:noFill/>
          <a:ln/>
        </p:spPr>
        <p:txBody>
          <a:bodyPr wrap="square" rtlCol="0" anchor="ctr"/>
          <a:lstStyle/>
          <a:p>
            <a:pPr marL="285750" indent="-285750">
              <a:buFont typeface="Arial" panose="020B0604020202020204" pitchFamily="34" charset="0"/>
              <a:buChar char="•"/>
            </a:pPr>
            <a:r>
              <a:rPr lang="en-US" sz="1600" dirty="0">
                <a:solidFill>
                  <a:schemeClr val="bg1"/>
                </a:solidFill>
              </a:rPr>
              <a:t>KNN </a:t>
            </a:r>
            <a:r>
              <a:rPr lang="en-US" sz="1600" dirty="0" err="1">
                <a:solidFill>
                  <a:schemeClr val="bg1"/>
                </a:solidFill>
              </a:rPr>
              <a:t>possui</a:t>
            </a:r>
            <a:r>
              <a:rPr lang="en-US" sz="1600" dirty="0">
                <a:solidFill>
                  <a:schemeClr val="bg1"/>
                </a:solidFill>
              </a:rPr>
              <a:t> </a:t>
            </a:r>
            <a:r>
              <a:rPr lang="en-US" sz="1600" dirty="0" err="1">
                <a:solidFill>
                  <a:schemeClr val="bg1"/>
                </a:solidFill>
              </a:rPr>
              <a:t>simplicidade</a:t>
            </a:r>
            <a:r>
              <a:rPr lang="en-US" sz="1600" dirty="0">
                <a:solidFill>
                  <a:schemeClr val="bg1"/>
                </a:solidFill>
              </a:rPr>
              <a:t> e </a:t>
            </a:r>
            <a:r>
              <a:rPr lang="en-US" sz="1600" dirty="0" err="1">
                <a:solidFill>
                  <a:schemeClr val="bg1"/>
                </a:solidFill>
              </a:rPr>
              <a:t>eficiência</a:t>
            </a: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r>
              <a:rPr lang="en-US" sz="1600" dirty="0" err="1">
                <a:solidFill>
                  <a:schemeClr val="bg1"/>
                </a:solidFill>
              </a:rPr>
              <a:t>Funciona</a:t>
            </a:r>
            <a:r>
              <a:rPr lang="en-US" sz="1600" dirty="0">
                <a:solidFill>
                  <a:schemeClr val="bg1"/>
                </a:solidFill>
              </a:rPr>
              <a:t> com a </a:t>
            </a:r>
            <a:r>
              <a:rPr lang="en-US" sz="1600" dirty="0" err="1">
                <a:solidFill>
                  <a:schemeClr val="bg1"/>
                </a:solidFill>
              </a:rPr>
              <a:t>comparação</a:t>
            </a:r>
            <a:r>
              <a:rPr lang="en-US" sz="1600" dirty="0">
                <a:solidFill>
                  <a:schemeClr val="bg1"/>
                </a:solidFill>
              </a:rPr>
              <a:t> entre </a:t>
            </a:r>
            <a:r>
              <a:rPr lang="en-US" sz="1600" dirty="0" err="1">
                <a:solidFill>
                  <a:schemeClr val="bg1"/>
                </a:solidFill>
              </a:rPr>
              <a:t>registros</a:t>
            </a:r>
            <a:r>
              <a:rPr lang="en-US" sz="1600" dirty="0">
                <a:solidFill>
                  <a:schemeClr val="bg1"/>
                </a:solidFill>
              </a:rPr>
              <a:t> </a:t>
            </a:r>
            <a:r>
              <a:rPr lang="en-US" sz="1600" dirty="0" err="1">
                <a:solidFill>
                  <a:schemeClr val="bg1"/>
                </a:solidFill>
              </a:rPr>
              <a:t>semelhantes</a:t>
            </a:r>
            <a:r>
              <a:rPr lang="en-US" sz="1600" dirty="0">
                <a:solidFill>
                  <a:schemeClr val="bg1"/>
                </a:solidFill>
              </a:rPr>
              <a:t>, </a:t>
            </a:r>
            <a:r>
              <a:rPr lang="en-US" sz="1600" dirty="0" err="1">
                <a:solidFill>
                  <a:schemeClr val="bg1"/>
                </a:solidFill>
              </a:rPr>
              <a:t>sendo</a:t>
            </a:r>
            <a:r>
              <a:rPr lang="en-US" sz="1600" dirty="0">
                <a:solidFill>
                  <a:schemeClr val="bg1"/>
                </a:solidFill>
              </a:rPr>
              <a:t> </a:t>
            </a:r>
            <a:r>
              <a:rPr lang="en-US" sz="1600" dirty="0" err="1">
                <a:solidFill>
                  <a:schemeClr val="bg1"/>
                </a:solidFill>
              </a:rPr>
              <a:t>bom</a:t>
            </a:r>
            <a:r>
              <a:rPr lang="en-US" sz="1600" dirty="0">
                <a:solidFill>
                  <a:schemeClr val="bg1"/>
                </a:solidFill>
              </a:rPr>
              <a:t> </a:t>
            </a:r>
            <a:r>
              <a:rPr lang="en-US" sz="1600" dirty="0" err="1">
                <a:solidFill>
                  <a:schemeClr val="bg1"/>
                </a:solidFill>
              </a:rPr>
              <a:t>em</a:t>
            </a:r>
            <a:r>
              <a:rPr lang="en-US" sz="1600" dirty="0">
                <a:solidFill>
                  <a:schemeClr val="bg1"/>
                </a:solidFill>
              </a:rPr>
              <a:t> </a:t>
            </a:r>
            <a:r>
              <a:rPr lang="en-US" sz="1600" dirty="0" err="1">
                <a:solidFill>
                  <a:schemeClr val="bg1"/>
                </a:solidFill>
              </a:rPr>
              <a:t>identificar</a:t>
            </a:r>
            <a:r>
              <a:rPr lang="en-US" sz="1600" dirty="0">
                <a:solidFill>
                  <a:schemeClr val="bg1"/>
                </a:solidFill>
              </a:rPr>
              <a:t> </a:t>
            </a:r>
            <a:r>
              <a:rPr lang="en-US" sz="1600" dirty="0" err="1">
                <a:solidFill>
                  <a:schemeClr val="bg1"/>
                </a:solidFill>
              </a:rPr>
              <a:t>padrões</a:t>
            </a:r>
            <a:endParaRPr lang="en-US" sz="1600" dirty="0">
              <a:solidFill>
                <a:schemeClr val="bg1"/>
              </a:solidFill>
            </a:endParaRPr>
          </a:p>
        </p:txBody>
      </p:sp>
      <p:sp>
        <p:nvSpPr>
          <p:cNvPr id="8" name="Shape 2">
            <a:extLst>
              <a:ext uri="{FF2B5EF4-FFF2-40B4-BE49-F238E27FC236}">
                <a16:creationId xmlns:a16="http://schemas.microsoft.com/office/drawing/2014/main" id="{FD653D5D-54B5-40D6-8AA1-612CB6523DA6}"/>
              </a:ext>
            </a:extLst>
          </p:cNvPr>
          <p:cNvSpPr/>
          <p:nvPr/>
        </p:nvSpPr>
        <p:spPr>
          <a:xfrm>
            <a:off x="3749041" y="1250740"/>
            <a:ext cx="5029199" cy="3582460"/>
          </a:xfrm>
          <a:prstGeom prst="roundRect">
            <a:avLst>
              <a:gd name="adj" fmla="val 5714"/>
            </a:avLst>
          </a:prstGeom>
          <a:solidFill>
            <a:srgbClr val="FFFFFF"/>
          </a:solidFill>
          <a:ln/>
          <a:effectLst>
            <a:outerShdw blurRad="76200" dist="25400" dir="2700000" algn="bl" rotWithShape="0">
              <a:srgbClr val="000000">
                <a:alpha val="8000"/>
              </a:srgbClr>
            </a:outerShdw>
          </a:effectLst>
        </p:spPr>
        <p:txBody>
          <a:bodyPr numCol="2"/>
          <a:lstStyle/>
          <a:p>
            <a:r>
              <a:rPr lang="pt-BR" sz="800" dirty="0">
                <a:solidFill>
                  <a:srgbClr val="008000"/>
                </a:solidFill>
                <a:latin typeface="Courier New" panose="02070309020205020404" pitchFamily="49" charset="0"/>
              </a:rPr>
              <a:t># COMITÊ DE CLASSIFICADORES #</a:t>
            </a:r>
            <a:endParaRPr lang="pt-BR" sz="800" dirty="0">
              <a:solidFill>
                <a:srgbClr val="000000"/>
              </a:solidFill>
              <a:latin typeface="Courier New" panose="02070309020205020404" pitchFamily="49" charset="0"/>
            </a:endParaRPr>
          </a:p>
          <a:p>
            <a:br>
              <a:rPr lang="pt-BR" sz="800" dirty="0">
                <a:solidFill>
                  <a:srgbClr val="000000"/>
                </a:solidFill>
                <a:latin typeface="Courier New" panose="02070309020205020404" pitchFamily="49" charset="0"/>
              </a:rPr>
            </a:br>
            <a:r>
              <a:rPr lang="pt-BR" sz="800" dirty="0">
                <a:solidFill>
                  <a:srgbClr val="008000"/>
                </a:solidFill>
                <a:latin typeface="Courier New" panose="02070309020205020404" pitchFamily="49" charset="0"/>
              </a:rPr>
              <a:t># Armazenam a contagem de votos dos modelos</a:t>
            </a:r>
            <a:endParaRPr lang="pt-BR" sz="800" dirty="0">
              <a:solidFill>
                <a:srgbClr val="000000"/>
              </a:solidFill>
              <a:latin typeface="Courier New" panose="02070309020205020404" pitchFamily="49" charset="0"/>
            </a:endParaRPr>
          </a:p>
          <a:p>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0</a:t>
            </a:r>
            <a:endParaRPr lang="pt-BR" sz="800" dirty="0">
              <a:solidFill>
                <a:srgbClr val="000000"/>
              </a:solidFill>
              <a:latin typeface="Courier New" panose="02070309020205020404" pitchFamily="49" charset="0"/>
            </a:endParaRPr>
          </a:p>
          <a:p>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0</a:t>
            </a:r>
            <a:endParaRPr lang="pt-BR" sz="800" dirty="0">
              <a:solidFill>
                <a:srgbClr val="000000"/>
              </a:solidFill>
              <a:latin typeface="Courier New" panose="02070309020205020404" pitchFamily="49" charset="0"/>
            </a:endParaRPr>
          </a:p>
          <a:p>
            <a:br>
              <a:rPr lang="pt-BR" sz="800" dirty="0">
                <a:solidFill>
                  <a:srgbClr val="000000"/>
                </a:solidFill>
                <a:latin typeface="Courier New" panose="02070309020205020404" pitchFamily="49" charset="0"/>
              </a:rPr>
            </a:br>
            <a:r>
              <a:rPr lang="pt-BR" sz="800" dirty="0">
                <a:solidFill>
                  <a:srgbClr val="008000"/>
                </a:solidFill>
                <a:latin typeface="Courier New" panose="02070309020205020404" pitchFamily="49" charset="0"/>
              </a:rPr>
              <a:t># 1. Previsão da Árvore de Decisão</a:t>
            </a:r>
            <a:endParaRPr lang="pt-BR" sz="800" dirty="0">
              <a:solidFill>
                <a:srgbClr val="000000"/>
              </a:solidFill>
              <a:latin typeface="Courier New" panose="02070309020205020404" pitchFamily="49" charset="0"/>
            </a:endParaRPr>
          </a:p>
          <a:p>
            <a:r>
              <a:rPr lang="pt-BR" sz="800" dirty="0" err="1">
                <a:solidFill>
                  <a:srgbClr val="000000"/>
                </a:solidFill>
                <a:latin typeface="Courier New" panose="02070309020205020404" pitchFamily="49" charset="0"/>
              </a:rPr>
              <a:t>pred_arv</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modeloARV.predict</a:t>
            </a:r>
            <a:r>
              <a:rPr lang="pt-BR" sz="800" dirty="0">
                <a:solidFill>
                  <a:srgbClr val="000000"/>
                </a:solidFill>
                <a:latin typeface="Courier New" panose="02070309020205020404" pitchFamily="49" charset="0"/>
              </a:rPr>
              <a:t>([[</a:t>
            </a:r>
            <a:r>
              <a:rPr lang="pt-BR" sz="800" dirty="0">
                <a:solidFill>
                  <a:srgbClr val="116644"/>
                </a:solidFill>
                <a:latin typeface="Courier New" panose="02070309020205020404" pitchFamily="49" charset="0"/>
              </a:rPr>
              <a:t>35</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5</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7</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6</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7</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a:t>
            </a:r>
          </a:p>
          <a:p>
            <a:r>
              <a:rPr lang="pt-BR" sz="800" dirty="0" err="1">
                <a:solidFill>
                  <a:srgbClr val="9723B4"/>
                </a:solidFill>
                <a:latin typeface="Courier New" panose="02070309020205020404" pitchFamily="49" charset="0"/>
              </a:rPr>
              <a:t>if</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pred_arv</a:t>
            </a:r>
            <a:r>
              <a:rPr lang="pt-BR" sz="800" dirty="0">
                <a:solidFill>
                  <a:srgbClr val="000000"/>
                </a:solidFill>
                <a:latin typeface="Courier New" panose="02070309020205020404" pitchFamily="49" charset="0"/>
              </a:rPr>
              <a:t>[</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1</a:t>
            </a:r>
            <a:endParaRPr lang="pt-BR" sz="800" dirty="0">
              <a:solidFill>
                <a:srgbClr val="000000"/>
              </a:solidFill>
              <a:latin typeface="Courier New" panose="02070309020205020404" pitchFamily="49" charset="0"/>
            </a:endParaRPr>
          </a:p>
          <a:p>
            <a:r>
              <a:rPr lang="pt-BR" sz="800" dirty="0" err="1">
                <a:solidFill>
                  <a:srgbClr val="9723B4"/>
                </a:solidFill>
                <a:latin typeface="Courier New" panose="02070309020205020404" pitchFamily="49" charset="0"/>
              </a:rPr>
              <a:t>else</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1</a:t>
            </a:r>
            <a:endParaRPr lang="pt-BR" sz="800" dirty="0">
              <a:solidFill>
                <a:srgbClr val="000000"/>
              </a:solidFill>
              <a:latin typeface="Courier New" panose="02070309020205020404" pitchFamily="49" charset="0"/>
            </a:endParaRPr>
          </a:p>
          <a:p>
            <a:r>
              <a:rPr lang="pt-BR" sz="800" dirty="0">
                <a:solidFill>
                  <a:srgbClr val="6A5221"/>
                </a:solidFill>
                <a:latin typeface="Courier New" panose="02070309020205020404" pitchFamily="49" charset="0"/>
              </a:rPr>
              <a:t>print</a:t>
            </a:r>
            <a:r>
              <a:rPr lang="pt-BR" sz="800" dirty="0">
                <a:solidFill>
                  <a:srgbClr val="000000"/>
                </a:solidFill>
                <a:latin typeface="Courier New" panose="02070309020205020404" pitchFamily="49" charset="0"/>
              </a:rPr>
              <a:t>(</a:t>
            </a:r>
            <a:r>
              <a:rPr lang="pt-BR" sz="800" dirty="0">
                <a:solidFill>
                  <a:srgbClr val="A31515"/>
                </a:solidFill>
                <a:latin typeface="Courier New" panose="02070309020205020404" pitchFamily="49" charset="0"/>
              </a:rPr>
              <a:t>"Previsão Árvore de Decisão:"</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pred_arv</a:t>
            </a:r>
            <a:r>
              <a:rPr lang="pt-BR" sz="800" dirty="0">
                <a:solidFill>
                  <a:srgbClr val="000000"/>
                </a:solidFill>
                <a:latin typeface="Courier New" panose="02070309020205020404" pitchFamily="49" charset="0"/>
              </a:rPr>
              <a:t>)</a:t>
            </a:r>
          </a:p>
          <a:p>
            <a:br>
              <a:rPr lang="pt-BR" sz="800" dirty="0">
                <a:solidFill>
                  <a:srgbClr val="000000"/>
                </a:solidFill>
                <a:latin typeface="Courier New" panose="02070309020205020404" pitchFamily="49" charset="0"/>
              </a:rPr>
            </a:br>
            <a:r>
              <a:rPr lang="pt-BR" sz="800" dirty="0">
                <a:solidFill>
                  <a:srgbClr val="008000"/>
                </a:solidFill>
                <a:latin typeface="Courier New" panose="02070309020205020404" pitchFamily="49" charset="0"/>
              </a:rPr>
              <a:t># 2. Previsão do KNN</a:t>
            </a:r>
            <a:endParaRPr lang="pt-BR" sz="800" dirty="0">
              <a:solidFill>
                <a:srgbClr val="000000"/>
              </a:solidFill>
              <a:latin typeface="Courier New" panose="02070309020205020404" pitchFamily="49" charset="0"/>
            </a:endParaRPr>
          </a:p>
          <a:p>
            <a:r>
              <a:rPr lang="pt-BR" sz="800" dirty="0" err="1">
                <a:solidFill>
                  <a:srgbClr val="000000"/>
                </a:solidFill>
                <a:latin typeface="Courier New" panose="02070309020205020404" pitchFamily="49" charset="0"/>
              </a:rPr>
              <a:t>pred_knn</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modeloKNN.predict</a:t>
            </a:r>
            <a:r>
              <a:rPr lang="pt-BR" sz="800" dirty="0">
                <a:solidFill>
                  <a:srgbClr val="000000"/>
                </a:solidFill>
                <a:latin typeface="Courier New" panose="02070309020205020404" pitchFamily="49" charset="0"/>
              </a:rPr>
              <a:t>([[</a:t>
            </a:r>
            <a:r>
              <a:rPr lang="pt-BR" sz="800" dirty="0">
                <a:solidFill>
                  <a:srgbClr val="116644"/>
                </a:solidFill>
                <a:latin typeface="Courier New" panose="02070309020205020404" pitchFamily="49" charset="0"/>
              </a:rPr>
              <a:t>35</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5</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7</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6</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7</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a:t>
            </a:r>
          </a:p>
          <a:p>
            <a:r>
              <a:rPr lang="pt-BR" sz="800" dirty="0" err="1">
                <a:solidFill>
                  <a:srgbClr val="9723B4"/>
                </a:solidFill>
                <a:latin typeface="Courier New" panose="02070309020205020404" pitchFamily="49" charset="0"/>
              </a:rPr>
              <a:t>if</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pred_knn</a:t>
            </a:r>
            <a:r>
              <a:rPr lang="pt-BR" sz="800" dirty="0">
                <a:solidFill>
                  <a:srgbClr val="000000"/>
                </a:solidFill>
                <a:latin typeface="Courier New" panose="02070309020205020404" pitchFamily="49" charset="0"/>
              </a:rPr>
              <a:t>[</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1</a:t>
            </a:r>
            <a:endParaRPr lang="pt-BR" sz="800" dirty="0">
              <a:solidFill>
                <a:srgbClr val="000000"/>
              </a:solidFill>
              <a:latin typeface="Courier New" panose="02070309020205020404" pitchFamily="49" charset="0"/>
            </a:endParaRPr>
          </a:p>
          <a:p>
            <a:r>
              <a:rPr lang="pt-BR" sz="800" dirty="0" err="1">
                <a:solidFill>
                  <a:srgbClr val="9723B4"/>
                </a:solidFill>
                <a:latin typeface="Courier New" panose="02070309020205020404" pitchFamily="49" charset="0"/>
              </a:rPr>
              <a:t>else</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1</a:t>
            </a:r>
            <a:endParaRPr lang="pt-BR" sz="800" dirty="0">
              <a:solidFill>
                <a:srgbClr val="000000"/>
              </a:solidFill>
              <a:latin typeface="Courier New" panose="02070309020205020404" pitchFamily="49" charset="0"/>
            </a:endParaRPr>
          </a:p>
          <a:p>
            <a:r>
              <a:rPr lang="pt-BR" sz="800" dirty="0">
                <a:solidFill>
                  <a:srgbClr val="6A5221"/>
                </a:solidFill>
                <a:latin typeface="Courier New" panose="02070309020205020404" pitchFamily="49" charset="0"/>
              </a:rPr>
              <a:t>print</a:t>
            </a:r>
            <a:r>
              <a:rPr lang="pt-BR" sz="800" dirty="0">
                <a:solidFill>
                  <a:srgbClr val="000000"/>
                </a:solidFill>
                <a:latin typeface="Courier New" panose="02070309020205020404" pitchFamily="49" charset="0"/>
              </a:rPr>
              <a:t>(</a:t>
            </a:r>
            <a:r>
              <a:rPr lang="pt-BR" sz="800" dirty="0">
                <a:solidFill>
                  <a:srgbClr val="A31515"/>
                </a:solidFill>
                <a:latin typeface="Courier New" panose="02070309020205020404" pitchFamily="49" charset="0"/>
              </a:rPr>
              <a:t>"Previsão KNN:"</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pred_knn</a:t>
            </a:r>
            <a:r>
              <a:rPr lang="pt-BR" sz="800" dirty="0">
                <a:solidFill>
                  <a:srgbClr val="000000"/>
                </a:solidFill>
                <a:latin typeface="Courier New" panose="02070309020205020404" pitchFamily="49" charset="0"/>
              </a:rPr>
              <a:t>)</a:t>
            </a:r>
          </a:p>
          <a:p>
            <a:br>
              <a:rPr lang="pt-BR" sz="800" dirty="0">
                <a:solidFill>
                  <a:srgbClr val="000000"/>
                </a:solidFill>
                <a:latin typeface="Courier New" panose="02070309020205020404" pitchFamily="49" charset="0"/>
              </a:rPr>
            </a:br>
            <a:r>
              <a:rPr lang="pt-BR" sz="800" dirty="0">
                <a:solidFill>
                  <a:srgbClr val="008000"/>
                </a:solidFill>
                <a:latin typeface="Courier New" panose="02070309020205020404" pitchFamily="49" charset="0"/>
              </a:rPr>
              <a:t># 3. Previsão da Regressão Logística</a:t>
            </a:r>
            <a:endParaRPr lang="pt-BR" sz="800" dirty="0">
              <a:solidFill>
                <a:srgbClr val="000000"/>
              </a:solidFill>
              <a:latin typeface="Courier New" panose="02070309020205020404" pitchFamily="49" charset="0"/>
            </a:endParaRPr>
          </a:p>
          <a:p>
            <a:r>
              <a:rPr lang="pt-BR" sz="800" dirty="0" err="1">
                <a:solidFill>
                  <a:srgbClr val="000000"/>
                </a:solidFill>
                <a:latin typeface="Courier New" panose="02070309020205020404" pitchFamily="49" charset="0"/>
              </a:rPr>
              <a:t>pred_lr</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modelolr.predict</a:t>
            </a:r>
            <a:r>
              <a:rPr lang="pt-BR" sz="800" dirty="0">
                <a:solidFill>
                  <a:srgbClr val="000000"/>
                </a:solidFill>
                <a:latin typeface="Courier New" panose="02070309020205020404" pitchFamily="49" charset="0"/>
              </a:rPr>
              <a:t>([[</a:t>
            </a:r>
            <a:r>
              <a:rPr lang="pt-BR" sz="800" dirty="0">
                <a:solidFill>
                  <a:srgbClr val="116644"/>
                </a:solidFill>
                <a:latin typeface="Courier New" panose="02070309020205020404" pitchFamily="49" charset="0"/>
              </a:rPr>
              <a:t>35</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5</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4</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7</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6</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7</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1</a:t>
            </a:r>
            <a:r>
              <a:rPr lang="pt-BR" sz="800" dirty="0">
                <a:solidFill>
                  <a:srgbClr val="000000"/>
                </a:solidFill>
                <a:latin typeface="Courier New" panose="02070309020205020404" pitchFamily="49" charset="0"/>
              </a:rPr>
              <a:t>,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a:t>
            </a:r>
          </a:p>
          <a:p>
            <a:r>
              <a:rPr lang="pt-BR" sz="800" dirty="0" err="1">
                <a:solidFill>
                  <a:srgbClr val="9723B4"/>
                </a:solidFill>
                <a:latin typeface="Courier New" panose="02070309020205020404" pitchFamily="49" charset="0"/>
              </a:rPr>
              <a:t>if</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pred_lr</a:t>
            </a:r>
            <a:r>
              <a:rPr lang="pt-BR" sz="800" dirty="0">
                <a:solidFill>
                  <a:srgbClr val="000000"/>
                </a:solidFill>
                <a:latin typeface="Courier New" panose="02070309020205020404" pitchFamily="49" charset="0"/>
              </a:rPr>
              <a:t>[</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0</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1</a:t>
            </a:r>
            <a:endParaRPr lang="pt-BR" sz="800" dirty="0">
              <a:solidFill>
                <a:srgbClr val="000000"/>
              </a:solidFill>
              <a:latin typeface="Courier New" panose="02070309020205020404" pitchFamily="49" charset="0"/>
            </a:endParaRPr>
          </a:p>
          <a:p>
            <a:r>
              <a:rPr lang="pt-BR" sz="800" dirty="0" err="1">
                <a:solidFill>
                  <a:srgbClr val="9723B4"/>
                </a:solidFill>
                <a:latin typeface="Courier New" panose="02070309020205020404" pitchFamily="49" charset="0"/>
              </a:rPr>
              <a:t>else</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1</a:t>
            </a:r>
            <a:endParaRPr lang="pt-BR" sz="800" dirty="0">
              <a:solidFill>
                <a:srgbClr val="000000"/>
              </a:solidFill>
              <a:latin typeface="Courier New" panose="02070309020205020404" pitchFamily="49" charset="0"/>
            </a:endParaRPr>
          </a:p>
          <a:p>
            <a:r>
              <a:rPr lang="pt-BR" sz="800" dirty="0">
                <a:solidFill>
                  <a:srgbClr val="6A5221"/>
                </a:solidFill>
                <a:latin typeface="Courier New" panose="02070309020205020404" pitchFamily="49" charset="0"/>
              </a:rPr>
              <a:t>print</a:t>
            </a:r>
            <a:r>
              <a:rPr lang="pt-BR" sz="800" dirty="0">
                <a:solidFill>
                  <a:srgbClr val="000000"/>
                </a:solidFill>
                <a:latin typeface="Courier New" panose="02070309020205020404" pitchFamily="49" charset="0"/>
              </a:rPr>
              <a:t>(</a:t>
            </a:r>
            <a:r>
              <a:rPr lang="pt-BR" sz="800" dirty="0">
                <a:solidFill>
                  <a:srgbClr val="A31515"/>
                </a:solidFill>
                <a:latin typeface="Courier New" panose="02070309020205020404" pitchFamily="49" charset="0"/>
              </a:rPr>
              <a:t>"Previsão Regressão Logística:"</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pred_lr</a:t>
            </a:r>
            <a:r>
              <a:rPr lang="pt-BR" sz="800" dirty="0">
                <a:solidFill>
                  <a:srgbClr val="000000"/>
                </a:solidFill>
                <a:latin typeface="Courier New" panose="02070309020205020404" pitchFamily="49" charset="0"/>
              </a:rPr>
              <a:t>)</a:t>
            </a:r>
          </a:p>
          <a:p>
            <a:br>
              <a:rPr lang="pt-BR" sz="800" dirty="0">
                <a:solidFill>
                  <a:srgbClr val="000000"/>
                </a:solidFill>
                <a:latin typeface="Courier New" panose="02070309020205020404" pitchFamily="49" charset="0"/>
              </a:rPr>
            </a:br>
            <a:br>
              <a:rPr lang="pt-BR" sz="800" dirty="0">
                <a:solidFill>
                  <a:srgbClr val="000000"/>
                </a:solidFill>
                <a:latin typeface="Courier New" panose="02070309020205020404" pitchFamily="49" charset="0"/>
              </a:rPr>
            </a:br>
            <a:r>
              <a:rPr lang="pt-BR" sz="800" dirty="0">
                <a:solidFill>
                  <a:srgbClr val="008000"/>
                </a:solidFill>
                <a:latin typeface="Courier New" panose="02070309020205020404" pitchFamily="49" charset="0"/>
              </a:rPr>
              <a:t># DECISÃO FINAL DO COMITÊ (Votação da Maioria) #</a:t>
            </a:r>
            <a:endParaRPr lang="pt-BR" sz="800" dirty="0">
              <a:solidFill>
                <a:srgbClr val="000000"/>
              </a:solidFill>
              <a:latin typeface="Courier New" panose="02070309020205020404" pitchFamily="49" charset="0"/>
            </a:endParaRPr>
          </a:p>
          <a:p>
            <a:br>
              <a:rPr lang="pt-BR" sz="800" dirty="0">
                <a:solidFill>
                  <a:srgbClr val="000000"/>
                </a:solidFill>
                <a:latin typeface="Courier New" panose="02070309020205020404" pitchFamily="49" charset="0"/>
              </a:rPr>
            </a:br>
            <a:r>
              <a:rPr lang="pt-BR" sz="800" dirty="0" err="1">
                <a:solidFill>
                  <a:srgbClr val="9723B4"/>
                </a:solidFill>
                <a:latin typeface="Courier New" panose="02070309020205020404" pitchFamily="49" charset="0"/>
              </a:rPr>
              <a:t>if</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&gt;= </a:t>
            </a:r>
            <a:r>
              <a:rPr lang="pt-BR" sz="800" dirty="0">
                <a:solidFill>
                  <a:srgbClr val="116644"/>
                </a:solidFill>
                <a:latin typeface="Courier New" panose="02070309020205020404" pitchFamily="49" charset="0"/>
              </a:rPr>
              <a:t>2</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a:solidFill>
                  <a:srgbClr val="6A5221"/>
                </a:solidFill>
                <a:latin typeface="Courier New" panose="02070309020205020404" pitchFamily="49" charset="0"/>
              </a:rPr>
              <a:t>print</a:t>
            </a:r>
            <a:r>
              <a:rPr lang="pt-BR" sz="800" dirty="0">
                <a:solidFill>
                  <a:srgbClr val="000000"/>
                </a:solidFill>
                <a:latin typeface="Courier New" panose="02070309020205020404" pitchFamily="49" charset="0"/>
              </a:rPr>
              <a:t>(</a:t>
            </a:r>
            <a:r>
              <a:rPr lang="pt-BR" sz="800" dirty="0">
                <a:solidFill>
                  <a:srgbClr val="A31515"/>
                </a:solidFill>
                <a:latin typeface="Courier New" panose="02070309020205020404" pitchFamily="49" charset="0"/>
              </a:rPr>
              <a:t>"\</a:t>
            </a:r>
            <a:r>
              <a:rPr lang="pt-BR" sz="800" dirty="0" err="1">
                <a:solidFill>
                  <a:srgbClr val="A31515"/>
                </a:solidFill>
                <a:latin typeface="Courier New" panose="02070309020205020404" pitchFamily="49" charset="0"/>
              </a:rPr>
              <a:t>nO</a:t>
            </a:r>
            <a:r>
              <a:rPr lang="pt-BR" sz="800" dirty="0">
                <a:solidFill>
                  <a:srgbClr val="A31515"/>
                </a:solidFill>
                <a:latin typeface="Courier New" panose="02070309020205020404" pitchFamily="49" charset="0"/>
              </a:rPr>
              <a:t> comitê acredita que o profissional apresenta baixo risco de </a:t>
            </a:r>
            <a:r>
              <a:rPr lang="pt-BR" sz="800" dirty="0" err="1">
                <a:solidFill>
                  <a:srgbClr val="A31515"/>
                </a:solidFill>
                <a:latin typeface="Courier New" panose="02070309020205020404" pitchFamily="49" charset="0"/>
              </a:rPr>
              <a:t>Burnout</a:t>
            </a:r>
            <a:r>
              <a:rPr lang="pt-BR" sz="800" dirty="0">
                <a:solidFill>
                  <a:srgbClr val="A31515"/>
                </a:solidFill>
                <a:latin typeface="Courier New" panose="02070309020205020404" pitchFamily="49" charset="0"/>
              </a:rPr>
              <a:t>."</a:t>
            </a:r>
            <a:r>
              <a:rPr lang="pt-BR" sz="800" dirty="0">
                <a:solidFill>
                  <a:srgbClr val="000000"/>
                </a:solidFill>
                <a:latin typeface="Courier New" panose="02070309020205020404" pitchFamily="49" charset="0"/>
              </a:rPr>
              <a:t>)</a:t>
            </a:r>
          </a:p>
          <a:p>
            <a:r>
              <a:rPr lang="pt-BR" sz="800" dirty="0" err="1">
                <a:solidFill>
                  <a:srgbClr val="9723B4"/>
                </a:solidFill>
                <a:latin typeface="Courier New" panose="02070309020205020404" pitchFamily="49" charset="0"/>
              </a:rPr>
              <a:t>else</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a:solidFill>
                  <a:srgbClr val="6A5221"/>
                </a:solidFill>
                <a:latin typeface="Courier New" panose="02070309020205020404" pitchFamily="49" charset="0"/>
              </a:rPr>
              <a:t>print</a:t>
            </a:r>
            <a:r>
              <a:rPr lang="pt-BR" sz="800" dirty="0">
                <a:solidFill>
                  <a:srgbClr val="000000"/>
                </a:solidFill>
                <a:latin typeface="Courier New" panose="02070309020205020404" pitchFamily="49" charset="0"/>
              </a:rPr>
              <a:t>(</a:t>
            </a:r>
            <a:r>
              <a:rPr lang="pt-BR" sz="800" dirty="0">
                <a:solidFill>
                  <a:srgbClr val="A31515"/>
                </a:solidFill>
                <a:latin typeface="Courier New" panose="02070309020205020404" pitchFamily="49" charset="0"/>
              </a:rPr>
              <a:t>"\</a:t>
            </a:r>
            <a:r>
              <a:rPr lang="pt-BR" sz="800" dirty="0" err="1">
                <a:solidFill>
                  <a:srgbClr val="A31515"/>
                </a:solidFill>
                <a:latin typeface="Courier New" panose="02070309020205020404" pitchFamily="49" charset="0"/>
              </a:rPr>
              <a:t>nO</a:t>
            </a:r>
            <a:r>
              <a:rPr lang="pt-BR" sz="800" dirty="0">
                <a:solidFill>
                  <a:srgbClr val="A31515"/>
                </a:solidFill>
                <a:latin typeface="Courier New" panose="02070309020205020404" pitchFamily="49" charset="0"/>
              </a:rPr>
              <a:t> comitê acredita que o profissional apresenta alto risco de </a:t>
            </a:r>
            <a:r>
              <a:rPr lang="pt-BR" sz="800" dirty="0" err="1">
                <a:solidFill>
                  <a:srgbClr val="A31515"/>
                </a:solidFill>
                <a:latin typeface="Courier New" panose="02070309020205020404" pitchFamily="49" charset="0"/>
              </a:rPr>
              <a:t>Burnout</a:t>
            </a:r>
            <a:r>
              <a:rPr lang="pt-BR" sz="800" dirty="0">
                <a:solidFill>
                  <a:srgbClr val="A31515"/>
                </a:solidFill>
                <a:latin typeface="Courier New" panose="02070309020205020404" pitchFamily="49" charset="0"/>
              </a:rPr>
              <a:t> (Alerta!)."</a:t>
            </a:r>
            <a:r>
              <a:rPr lang="pt-BR" sz="800" dirty="0">
                <a:solidFill>
                  <a:srgbClr val="000000"/>
                </a:solidFill>
                <a:latin typeface="Courier New" panose="02070309020205020404" pitchFamily="49" charset="0"/>
              </a:rPr>
              <a:t>)</a:t>
            </a:r>
          </a:p>
          <a:p>
            <a:br>
              <a:rPr lang="pt-BR" sz="800" dirty="0">
                <a:solidFill>
                  <a:srgbClr val="000000"/>
                </a:solidFill>
                <a:latin typeface="Courier New" panose="02070309020205020404" pitchFamily="49" charset="0"/>
              </a:rPr>
            </a:br>
            <a:r>
              <a:rPr lang="pt-BR" sz="800" dirty="0">
                <a:solidFill>
                  <a:srgbClr val="008000"/>
                </a:solidFill>
                <a:latin typeface="Courier New" panose="02070309020205020404" pitchFamily="49" charset="0"/>
              </a:rPr>
              <a:t># Verificação de Unanimidade</a:t>
            </a:r>
            <a:endParaRPr lang="pt-BR" sz="800" dirty="0">
              <a:solidFill>
                <a:srgbClr val="000000"/>
              </a:solidFill>
              <a:latin typeface="Courier New" panose="02070309020205020404" pitchFamily="49" charset="0"/>
            </a:endParaRPr>
          </a:p>
          <a:p>
            <a:r>
              <a:rPr lang="pt-BR" sz="800" dirty="0" err="1">
                <a:solidFill>
                  <a:srgbClr val="9723B4"/>
                </a:solidFill>
                <a:latin typeface="Courier New" panose="02070309020205020404" pitchFamily="49" charset="0"/>
              </a:rPr>
              <a:t>if</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tot_baixo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 </a:t>
            </a:r>
            <a:r>
              <a:rPr lang="pt-BR" sz="800" dirty="0" err="1">
                <a:solidFill>
                  <a:srgbClr val="0000FF"/>
                </a:solidFill>
                <a:latin typeface="Courier New" panose="02070309020205020404" pitchFamily="49" charset="0"/>
              </a:rPr>
              <a:t>or</a:t>
            </a:r>
            <a:r>
              <a:rPr lang="pt-BR" sz="800" dirty="0">
                <a:solidFill>
                  <a:srgbClr val="000000"/>
                </a:solidFill>
                <a:latin typeface="Courier New" panose="02070309020205020404" pitchFamily="49" charset="0"/>
              </a:rPr>
              <a:t> </a:t>
            </a:r>
            <a:r>
              <a:rPr lang="pt-BR" sz="800" dirty="0" err="1">
                <a:solidFill>
                  <a:srgbClr val="000000"/>
                </a:solidFill>
                <a:latin typeface="Courier New" panose="02070309020205020404" pitchFamily="49" charset="0"/>
              </a:rPr>
              <a:t>tot_alto</a:t>
            </a:r>
            <a:r>
              <a:rPr lang="pt-BR" sz="800" dirty="0">
                <a:solidFill>
                  <a:srgbClr val="000000"/>
                </a:solidFill>
                <a:latin typeface="Courier New" panose="02070309020205020404" pitchFamily="49" charset="0"/>
              </a:rPr>
              <a:t> == </a:t>
            </a:r>
            <a:r>
              <a:rPr lang="pt-BR" sz="800" dirty="0">
                <a:solidFill>
                  <a:srgbClr val="116644"/>
                </a:solidFill>
                <a:latin typeface="Courier New" panose="02070309020205020404" pitchFamily="49" charset="0"/>
              </a:rPr>
              <a:t>3</a:t>
            </a:r>
            <a:r>
              <a:rPr lang="pt-BR" sz="800" dirty="0">
                <a:solidFill>
                  <a:srgbClr val="000000"/>
                </a:solidFill>
                <a:latin typeface="Courier New" panose="02070309020205020404" pitchFamily="49" charset="0"/>
              </a:rPr>
              <a:t>:</a:t>
            </a:r>
          </a:p>
          <a:p>
            <a:r>
              <a:rPr lang="pt-BR" sz="800" dirty="0">
                <a:solidFill>
                  <a:srgbClr val="000000"/>
                </a:solidFill>
                <a:latin typeface="Courier New" panose="02070309020205020404" pitchFamily="49" charset="0"/>
              </a:rPr>
              <a:t>    </a:t>
            </a:r>
            <a:r>
              <a:rPr lang="pt-BR" sz="800" dirty="0">
                <a:solidFill>
                  <a:srgbClr val="6A5221"/>
                </a:solidFill>
                <a:latin typeface="Courier New" panose="02070309020205020404" pitchFamily="49" charset="0"/>
              </a:rPr>
              <a:t>print</a:t>
            </a:r>
            <a:r>
              <a:rPr lang="pt-BR" sz="800" dirty="0">
                <a:solidFill>
                  <a:srgbClr val="000000"/>
                </a:solidFill>
                <a:latin typeface="Courier New" panose="02070309020205020404" pitchFamily="49" charset="0"/>
              </a:rPr>
              <a:t>(</a:t>
            </a:r>
            <a:r>
              <a:rPr lang="pt-BR" sz="800" dirty="0">
                <a:solidFill>
                  <a:srgbClr val="A31515"/>
                </a:solidFill>
                <a:latin typeface="Courier New" panose="02070309020205020404" pitchFamily="49" charset="0"/>
              </a:rPr>
              <a:t>"O comitê foi unânime em sua decisão."</a:t>
            </a:r>
            <a:r>
              <a:rPr lang="pt-BR" sz="800"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277382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rPr>
              <a:t>Base de Dados - </a:t>
            </a:r>
            <a:r>
              <a:rPr lang="en-US" sz="2600" b="1" dirty="0" err="1">
                <a:solidFill>
                  <a:srgbClr val="FFFFFF"/>
                </a:solidFill>
              </a:rPr>
              <a:t>Avaliação</a:t>
            </a:r>
            <a:r>
              <a:rPr lang="en-US" sz="2600" b="1" dirty="0">
                <a:solidFill>
                  <a:srgbClr val="FFFFFF"/>
                </a:solidFill>
              </a:rPr>
              <a:t> de </a:t>
            </a:r>
            <a:r>
              <a:rPr lang="en-US" sz="2600" b="1" dirty="0" err="1">
                <a:solidFill>
                  <a:srgbClr val="FFFFFF"/>
                </a:solidFill>
              </a:rPr>
              <a:t>Modelos</a:t>
            </a:r>
            <a:r>
              <a:rPr lang="en-US" sz="2600" b="1" dirty="0">
                <a:solidFill>
                  <a:srgbClr val="FFFFFF"/>
                </a:solidFill>
              </a:rPr>
              <a:t> </a:t>
            </a:r>
            <a:r>
              <a:rPr lang="en-US" sz="2600" b="1" dirty="0" err="1">
                <a:solidFill>
                  <a:srgbClr val="FFFFFF"/>
                </a:solidFill>
              </a:rPr>
              <a:t>Individuais</a:t>
            </a:r>
            <a:endParaRPr lang="en-US" sz="2600" dirty="0"/>
          </a:p>
        </p:txBody>
      </p:sp>
      <p:sp>
        <p:nvSpPr>
          <p:cNvPr id="14" name="Shape 12"/>
          <p:cNvSpPr/>
          <p:nvPr/>
        </p:nvSpPr>
        <p:spPr>
          <a:xfrm>
            <a:off x="6172200" y="1143000"/>
            <a:ext cx="2606040" cy="3749040"/>
          </a:xfrm>
          <a:prstGeom prst="roundRect">
            <a:avLst>
              <a:gd name="adj" fmla="val 3390"/>
            </a:avLst>
          </a:prstGeom>
          <a:solidFill>
            <a:srgbClr val="ECFDF5"/>
          </a:solidFill>
          <a:ln>
            <a:solidFill>
              <a:schemeClr val="accent6">
                <a:lumMod val="50000"/>
              </a:schemeClr>
            </a:solidFill>
          </a:ln>
        </p:spPr>
      </p:sp>
      <p:sp>
        <p:nvSpPr>
          <p:cNvPr id="15" name="Text 13"/>
          <p:cNvSpPr/>
          <p:nvPr/>
        </p:nvSpPr>
        <p:spPr>
          <a:xfrm>
            <a:off x="6172200" y="1298448"/>
            <a:ext cx="2514600" cy="502920"/>
          </a:xfrm>
          <a:prstGeom prst="rect">
            <a:avLst/>
          </a:prstGeom>
          <a:noFill/>
          <a:ln/>
        </p:spPr>
        <p:txBody>
          <a:bodyPr wrap="square" rtlCol="0" anchor="ctr"/>
          <a:lstStyle/>
          <a:p>
            <a:pPr marL="0" indent="0" algn="ctr">
              <a:buNone/>
            </a:pPr>
            <a:r>
              <a:rPr lang="en-US" sz="1400" b="1" dirty="0" err="1">
                <a:solidFill>
                  <a:srgbClr val="059669"/>
                </a:solidFill>
              </a:rPr>
              <a:t>Regressão</a:t>
            </a:r>
            <a:r>
              <a:rPr lang="en-US" sz="1400" b="1" dirty="0">
                <a:solidFill>
                  <a:srgbClr val="059669"/>
                </a:solidFill>
              </a:rPr>
              <a:t> </a:t>
            </a:r>
            <a:r>
              <a:rPr lang="en-US" sz="1400" b="1" dirty="0" err="1">
                <a:solidFill>
                  <a:srgbClr val="059669"/>
                </a:solidFill>
              </a:rPr>
              <a:t>Logística</a:t>
            </a:r>
            <a:endParaRPr lang="en-US" sz="1400" dirty="0"/>
          </a:p>
        </p:txBody>
      </p:sp>
      <p:sp>
        <p:nvSpPr>
          <p:cNvPr id="16" name="Text 14"/>
          <p:cNvSpPr/>
          <p:nvPr/>
        </p:nvSpPr>
        <p:spPr>
          <a:xfrm>
            <a:off x="6172200" y="1874520"/>
            <a:ext cx="2514600" cy="777240"/>
          </a:xfrm>
          <a:prstGeom prst="rect">
            <a:avLst/>
          </a:prstGeom>
          <a:noFill/>
          <a:ln/>
        </p:spPr>
        <p:txBody>
          <a:bodyPr wrap="square" rtlCol="0" anchor="ctr"/>
          <a:lstStyle/>
          <a:p>
            <a:pPr marL="0" indent="0" algn="ctr">
              <a:buNone/>
            </a:pPr>
            <a:r>
              <a:rPr lang="en-US" sz="3800" b="1" dirty="0">
                <a:solidFill>
                  <a:srgbClr val="059669"/>
                </a:solidFill>
              </a:rPr>
              <a:t>93,4%</a:t>
            </a:r>
            <a:endParaRPr lang="en-US" sz="3800" dirty="0"/>
          </a:p>
        </p:txBody>
      </p:sp>
      <p:sp>
        <p:nvSpPr>
          <p:cNvPr id="17" name="Text 15"/>
          <p:cNvSpPr/>
          <p:nvPr/>
        </p:nvSpPr>
        <p:spPr>
          <a:xfrm>
            <a:off x="6172200" y="2606040"/>
            <a:ext cx="2514600" cy="274320"/>
          </a:xfrm>
          <a:prstGeom prst="rect">
            <a:avLst/>
          </a:prstGeom>
          <a:noFill/>
          <a:ln/>
        </p:spPr>
        <p:txBody>
          <a:bodyPr wrap="square" rtlCol="0" anchor="ctr"/>
          <a:lstStyle/>
          <a:p>
            <a:pPr marL="0" indent="0" algn="ctr">
              <a:buNone/>
            </a:pPr>
            <a:r>
              <a:rPr lang="en-US" sz="1100" dirty="0">
                <a:solidFill>
                  <a:srgbClr val="94A3B8"/>
                </a:solidFill>
              </a:rPr>
              <a:t>acurácia</a:t>
            </a:r>
            <a:endParaRPr lang="en-US" sz="1100" dirty="0"/>
          </a:p>
        </p:txBody>
      </p:sp>
      <p:sp>
        <p:nvSpPr>
          <p:cNvPr id="19" name="Shape 2">
            <a:extLst>
              <a:ext uri="{FF2B5EF4-FFF2-40B4-BE49-F238E27FC236}">
                <a16:creationId xmlns:a16="http://schemas.microsoft.com/office/drawing/2014/main" id="{091C0918-8853-42F7-BD39-16DEC2BE5DB1}"/>
              </a:ext>
            </a:extLst>
          </p:cNvPr>
          <p:cNvSpPr/>
          <p:nvPr/>
        </p:nvSpPr>
        <p:spPr>
          <a:xfrm>
            <a:off x="365760" y="1143000"/>
            <a:ext cx="2606040" cy="3749040"/>
          </a:xfrm>
          <a:prstGeom prst="roundRect">
            <a:avLst>
              <a:gd name="adj" fmla="val 3390"/>
            </a:avLst>
          </a:prstGeom>
          <a:solidFill>
            <a:srgbClr val="F5F3FF"/>
          </a:solidFill>
          <a:ln>
            <a:solidFill>
              <a:srgbClr val="7030A0"/>
            </a:solidFill>
          </a:ln>
        </p:spPr>
      </p:sp>
      <p:sp>
        <p:nvSpPr>
          <p:cNvPr id="20" name="Text 3">
            <a:extLst>
              <a:ext uri="{FF2B5EF4-FFF2-40B4-BE49-F238E27FC236}">
                <a16:creationId xmlns:a16="http://schemas.microsoft.com/office/drawing/2014/main" id="{7C997F9A-CE7B-40D6-899E-E6DE82D11317}"/>
              </a:ext>
            </a:extLst>
          </p:cNvPr>
          <p:cNvSpPr/>
          <p:nvPr/>
        </p:nvSpPr>
        <p:spPr>
          <a:xfrm>
            <a:off x="411480" y="1298448"/>
            <a:ext cx="2514600" cy="502920"/>
          </a:xfrm>
          <a:prstGeom prst="rect">
            <a:avLst/>
          </a:prstGeom>
          <a:noFill/>
          <a:ln/>
        </p:spPr>
        <p:txBody>
          <a:bodyPr wrap="square" rtlCol="0" anchor="ctr"/>
          <a:lstStyle/>
          <a:p>
            <a:pPr marL="0" indent="0" algn="ctr">
              <a:buNone/>
            </a:pPr>
            <a:r>
              <a:rPr lang="en-US" sz="1400" b="1" dirty="0" err="1">
                <a:solidFill>
                  <a:srgbClr val="7C3AED"/>
                </a:solidFill>
              </a:rPr>
              <a:t>Árvore</a:t>
            </a:r>
            <a:r>
              <a:rPr lang="en-US" sz="1400" b="1" dirty="0">
                <a:solidFill>
                  <a:srgbClr val="7C3AED"/>
                </a:solidFill>
              </a:rPr>
              <a:t> de </a:t>
            </a:r>
            <a:r>
              <a:rPr lang="en-US" sz="1400" b="1" dirty="0" err="1">
                <a:solidFill>
                  <a:srgbClr val="7C3AED"/>
                </a:solidFill>
              </a:rPr>
              <a:t>Decisão</a:t>
            </a:r>
            <a:endParaRPr lang="en-US" sz="1400" dirty="0"/>
          </a:p>
        </p:txBody>
      </p:sp>
      <p:sp>
        <p:nvSpPr>
          <p:cNvPr id="21" name="Text 4">
            <a:extLst>
              <a:ext uri="{FF2B5EF4-FFF2-40B4-BE49-F238E27FC236}">
                <a16:creationId xmlns:a16="http://schemas.microsoft.com/office/drawing/2014/main" id="{8CF71028-DE51-4052-A62C-7F5EF1E3C361}"/>
              </a:ext>
            </a:extLst>
          </p:cNvPr>
          <p:cNvSpPr/>
          <p:nvPr/>
        </p:nvSpPr>
        <p:spPr>
          <a:xfrm>
            <a:off x="411480" y="1874520"/>
            <a:ext cx="2514600" cy="777240"/>
          </a:xfrm>
          <a:prstGeom prst="rect">
            <a:avLst/>
          </a:prstGeom>
          <a:noFill/>
          <a:ln/>
        </p:spPr>
        <p:txBody>
          <a:bodyPr wrap="square" rtlCol="0" anchor="ctr"/>
          <a:lstStyle/>
          <a:p>
            <a:pPr marL="0" indent="0" algn="ctr">
              <a:buNone/>
            </a:pPr>
            <a:r>
              <a:rPr lang="en-US" sz="3800" b="1" dirty="0">
                <a:solidFill>
                  <a:srgbClr val="7C3AED"/>
                </a:solidFill>
              </a:rPr>
              <a:t>90,5%</a:t>
            </a:r>
            <a:endParaRPr lang="en-US" sz="3800" dirty="0"/>
          </a:p>
        </p:txBody>
      </p:sp>
      <p:sp>
        <p:nvSpPr>
          <p:cNvPr id="22" name="Text 5">
            <a:extLst>
              <a:ext uri="{FF2B5EF4-FFF2-40B4-BE49-F238E27FC236}">
                <a16:creationId xmlns:a16="http://schemas.microsoft.com/office/drawing/2014/main" id="{F19932A8-51BE-4CD8-96A9-17110FA75605}"/>
              </a:ext>
            </a:extLst>
          </p:cNvPr>
          <p:cNvSpPr/>
          <p:nvPr/>
        </p:nvSpPr>
        <p:spPr>
          <a:xfrm>
            <a:off x="411480" y="2606040"/>
            <a:ext cx="2514600" cy="274320"/>
          </a:xfrm>
          <a:prstGeom prst="rect">
            <a:avLst/>
          </a:prstGeom>
          <a:noFill/>
          <a:ln/>
        </p:spPr>
        <p:txBody>
          <a:bodyPr wrap="square" rtlCol="0" anchor="ctr"/>
          <a:lstStyle/>
          <a:p>
            <a:pPr marL="0" indent="0" algn="ctr">
              <a:buNone/>
            </a:pPr>
            <a:r>
              <a:rPr lang="en-US" sz="1100" dirty="0">
                <a:solidFill>
                  <a:srgbClr val="94A3B8"/>
                </a:solidFill>
              </a:rPr>
              <a:t>acurácia</a:t>
            </a:r>
            <a:endParaRPr lang="en-US" sz="1100" dirty="0"/>
          </a:p>
        </p:txBody>
      </p:sp>
      <p:sp>
        <p:nvSpPr>
          <p:cNvPr id="23" name="Text 6">
            <a:extLst>
              <a:ext uri="{FF2B5EF4-FFF2-40B4-BE49-F238E27FC236}">
                <a16:creationId xmlns:a16="http://schemas.microsoft.com/office/drawing/2014/main" id="{FD0082FB-3B55-4211-A77B-7EE997335FB7}"/>
              </a:ext>
            </a:extLst>
          </p:cNvPr>
          <p:cNvSpPr/>
          <p:nvPr/>
        </p:nvSpPr>
        <p:spPr>
          <a:xfrm>
            <a:off x="457200" y="3282696"/>
            <a:ext cx="2423160" cy="844826"/>
          </a:xfrm>
          <a:prstGeom prst="rect">
            <a:avLst/>
          </a:prstGeom>
          <a:noFill/>
          <a:ln/>
        </p:spPr>
        <p:txBody>
          <a:bodyPr wrap="square" rtlCol="0" anchor="t"/>
          <a:lstStyle/>
          <a:p>
            <a:pPr marL="0" indent="0" algn="ctr">
              <a:buNone/>
            </a:pPr>
            <a:r>
              <a:rPr lang="en-US" sz="1400" dirty="0">
                <a:solidFill>
                  <a:srgbClr val="0F172A"/>
                </a:solidFill>
              </a:rPr>
              <a:t>Fluxograma de perguntas encadeadas. Ex: Horas &gt; 40? Estresse alto? Burnout HIGH</a:t>
            </a:r>
            <a:endParaRPr lang="en-US" sz="1400" dirty="0"/>
          </a:p>
        </p:txBody>
      </p:sp>
      <p:sp>
        <p:nvSpPr>
          <p:cNvPr id="24" name="Shape 7">
            <a:extLst>
              <a:ext uri="{FF2B5EF4-FFF2-40B4-BE49-F238E27FC236}">
                <a16:creationId xmlns:a16="http://schemas.microsoft.com/office/drawing/2014/main" id="{D4F6B4EB-CC39-436A-A582-87E84B5579CD}"/>
              </a:ext>
            </a:extLst>
          </p:cNvPr>
          <p:cNvSpPr/>
          <p:nvPr/>
        </p:nvSpPr>
        <p:spPr>
          <a:xfrm>
            <a:off x="3337560" y="1143000"/>
            <a:ext cx="2468880" cy="3749040"/>
          </a:xfrm>
          <a:prstGeom prst="roundRect">
            <a:avLst>
              <a:gd name="adj" fmla="val 3390"/>
            </a:avLst>
          </a:prstGeom>
          <a:solidFill>
            <a:srgbClr val="F0F9FF"/>
          </a:solidFill>
          <a:ln>
            <a:solidFill>
              <a:schemeClr val="accent1">
                <a:lumMod val="75000"/>
              </a:schemeClr>
            </a:solidFill>
          </a:ln>
        </p:spPr>
      </p:sp>
      <p:sp>
        <p:nvSpPr>
          <p:cNvPr id="25" name="Text 8">
            <a:extLst>
              <a:ext uri="{FF2B5EF4-FFF2-40B4-BE49-F238E27FC236}">
                <a16:creationId xmlns:a16="http://schemas.microsoft.com/office/drawing/2014/main" id="{27471827-2A79-47CD-851F-893CE924FCF0}"/>
              </a:ext>
            </a:extLst>
          </p:cNvPr>
          <p:cNvSpPr/>
          <p:nvPr/>
        </p:nvSpPr>
        <p:spPr>
          <a:xfrm>
            <a:off x="3291840" y="1298448"/>
            <a:ext cx="2514600" cy="502920"/>
          </a:xfrm>
          <a:prstGeom prst="rect">
            <a:avLst/>
          </a:prstGeom>
          <a:noFill/>
          <a:ln/>
        </p:spPr>
        <p:txBody>
          <a:bodyPr wrap="square" rtlCol="0" anchor="ctr"/>
          <a:lstStyle/>
          <a:p>
            <a:pPr marL="0" indent="0" algn="ctr">
              <a:buNone/>
            </a:pPr>
            <a:r>
              <a:rPr lang="en-US" sz="1400" b="1" dirty="0">
                <a:solidFill>
                  <a:srgbClr val="0369A1"/>
                </a:solidFill>
              </a:rPr>
              <a:t>KNN</a:t>
            </a:r>
            <a:endParaRPr lang="en-US" sz="1400" dirty="0"/>
          </a:p>
        </p:txBody>
      </p:sp>
      <p:sp>
        <p:nvSpPr>
          <p:cNvPr id="26" name="Text 9">
            <a:extLst>
              <a:ext uri="{FF2B5EF4-FFF2-40B4-BE49-F238E27FC236}">
                <a16:creationId xmlns:a16="http://schemas.microsoft.com/office/drawing/2014/main" id="{20C7A341-2FFE-4A1E-920D-CD8B3611347E}"/>
              </a:ext>
            </a:extLst>
          </p:cNvPr>
          <p:cNvSpPr/>
          <p:nvPr/>
        </p:nvSpPr>
        <p:spPr>
          <a:xfrm>
            <a:off x="3291840" y="1874520"/>
            <a:ext cx="2514600" cy="777240"/>
          </a:xfrm>
          <a:prstGeom prst="rect">
            <a:avLst/>
          </a:prstGeom>
          <a:noFill/>
          <a:ln/>
        </p:spPr>
        <p:txBody>
          <a:bodyPr wrap="square" rtlCol="0" anchor="ctr"/>
          <a:lstStyle/>
          <a:p>
            <a:pPr marL="0" indent="0" algn="ctr">
              <a:buNone/>
            </a:pPr>
            <a:r>
              <a:rPr lang="en-US" sz="3800" b="1" dirty="0">
                <a:solidFill>
                  <a:srgbClr val="0369A1"/>
                </a:solidFill>
              </a:rPr>
              <a:t>89,9%</a:t>
            </a:r>
            <a:endParaRPr lang="en-US" sz="3800" dirty="0"/>
          </a:p>
        </p:txBody>
      </p:sp>
      <p:sp>
        <p:nvSpPr>
          <p:cNvPr id="27" name="Text 10">
            <a:extLst>
              <a:ext uri="{FF2B5EF4-FFF2-40B4-BE49-F238E27FC236}">
                <a16:creationId xmlns:a16="http://schemas.microsoft.com/office/drawing/2014/main" id="{7C382ABA-427E-43EC-95E5-873EBA67F94D}"/>
              </a:ext>
            </a:extLst>
          </p:cNvPr>
          <p:cNvSpPr/>
          <p:nvPr/>
        </p:nvSpPr>
        <p:spPr>
          <a:xfrm>
            <a:off x="3291840" y="2606040"/>
            <a:ext cx="2514600" cy="274320"/>
          </a:xfrm>
          <a:prstGeom prst="rect">
            <a:avLst/>
          </a:prstGeom>
          <a:noFill/>
          <a:ln/>
        </p:spPr>
        <p:txBody>
          <a:bodyPr wrap="square" rtlCol="0" anchor="ctr"/>
          <a:lstStyle/>
          <a:p>
            <a:pPr marL="0" indent="0" algn="ctr">
              <a:buNone/>
            </a:pPr>
            <a:r>
              <a:rPr lang="en-US" sz="1100" dirty="0">
                <a:solidFill>
                  <a:srgbClr val="94A3B8"/>
                </a:solidFill>
              </a:rPr>
              <a:t>acurácia</a:t>
            </a:r>
            <a:endParaRPr lang="en-US" sz="1100" dirty="0"/>
          </a:p>
        </p:txBody>
      </p:sp>
      <p:sp>
        <p:nvSpPr>
          <p:cNvPr id="28" name="Text 11">
            <a:extLst>
              <a:ext uri="{FF2B5EF4-FFF2-40B4-BE49-F238E27FC236}">
                <a16:creationId xmlns:a16="http://schemas.microsoft.com/office/drawing/2014/main" id="{3D5BA810-FC87-45E6-AFD6-2A86F3996CCD}"/>
              </a:ext>
            </a:extLst>
          </p:cNvPr>
          <p:cNvSpPr/>
          <p:nvPr/>
        </p:nvSpPr>
        <p:spPr>
          <a:xfrm>
            <a:off x="3337560" y="3282696"/>
            <a:ext cx="2468880" cy="844826"/>
          </a:xfrm>
          <a:prstGeom prst="rect">
            <a:avLst/>
          </a:prstGeom>
          <a:noFill/>
          <a:ln/>
        </p:spPr>
        <p:txBody>
          <a:bodyPr wrap="square" rtlCol="0" anchor="t"/>
          <a:lstStyle/>
          <a:p>
            <a:pPr marL="0" indent="0" algn="ctr">
              <a:buNone/>
            </a:pPr>
            <a:r>
              <a:rPr lang="en-US" sz="1400" dirty="0">
                <a:solidFill>
                  <a:srgbClr val="0F172A"/>
                </a:solidFill>
              </a:rPr>
              <a:t>Compara o trabalhador com os 3 perfis mais parecidos já vistos e decide pela maioria.</a:t>
            </a:r>
            <a:endParaRPr lang="en-US" sz="1400" dirty="0"/>
          </a:p>
        </p:txBody>
      </p:sp>
      <p:sp>
        <p:nvSpPr>
          <p:cNvPr id="29" name="Text 11">
            <a:extLst>
              <a:ext uri="{FF2B5EF4-FFF2-40B4-BE49-F238E27FC236}">
                <a16:creationId xmlns:a16="http://schemas.microsoft.com/office/drawing/2014/main" id="{7D64DFB0-C717-4E0F-BC8C-87D19B8BC499}"/>
              </a:ext>
            </a:extLst>
          </p:cNvPr>
          <p:cNvSpPr/>
          <p:nvPr/>
        </p:nvSpPr>
        <p:spPr>
          <a:xfrm>
            <a:off x="6172200" y="3282696"/>
            <a:ext cx="2606040" cy="844826"/>
          </a:xfrm>
          <a:prstGeom prst="rect">
            <a:avLst/>
          </a:prstGeom>
          <a:noFill/>
          <a:ln/>
        </p:spPr>
        <p:txBody>
          <a:bodyPr wrap="square" rtlCol="0" anchor="t"/>
          <a:lstStyle/>
          <a:p>
            <a:pPr marL="0" indent="0" algn="ctr">
              <a:buNone/>
            </a:pPr>
            <a:r>
              <a:rPr lang="en-US" sz="1400" dirty="0" err="1">
                <a:solidFill>
                  <a:srgbClr val="0F172A"/>
                </a:solidFill>
              </a:rPr>
              <a:t>Modelo</a:t>
            </a:r>
            <a:r>
              <a:rPr lang="en-US" sz="1400" dirty="0">
                <a:solidFill>
                  <a:srgbClr val="0F172A"/>
                </a:solidFill>
              </a:rPr>
              <a:t> </a:t>
            </a:r>
            <a:r>
              <a:rPr lang="en-US" sz="1400" dirty="0" err="1">
                <a:solidFill>
                  <a:srgbClr val="0F172A"/>
                </a:solidFill>
              </a:rPr>
              <a:t>matemático</a:t>
            </a:r>
            <a:r>
              <a:rPr lang="en-US" sz="1400" dirty="0">
                <a:solidFill>
                  <a:srgbClr val="0F172A"/>
                </a:solidFill>
              </a:rPr>
              <a:t> que </a:t>
            </a:r>
            <a:r>
              <a:rPr lang="en-US" sz="1400" dirty="0" err="1">
                <a:solidFill>
                  <a:srgbClr val="0F172A"/>
                </a:solidFill>
              </a:rPr>
              <a:t>traça</a:t>
            </a:r>
            <a:r>
              <a:rPr lang="en-US" sz="1400" dirty="0">
                <a:solidFill>
                  <a:srgbClr val="0F172A"/>
                </a:solidFill>
              </a:rPr>
              <a:t> </a:t>
            </a:r>
            <a:r>
              <a:rPr lang="en-US" sz="1400" dirty="0" err="1">
                <a:solidFill>
                  <a:srgbClr val="0F172A"/>
                </a:solidFill>
              </a:rPr>
              <a:t>fronteiras</a:t>
            </a:r>
            <a:r>
              <a:rPr lang="en-US" sz="1400" dirty="0">
                <a:solidFill>
                  <a:srgbClr val="0F172A"/>
                </a:solidFill>
              </a:rPr>
              <a:t> entre as classes. </a:t>
            </a:r>
            <a:r>
              <a:rPr lang="en-US" sz="1400" dirty="0" err="1">
                <a:solidFill>
                  <a:srgbClr val="0F172A"/>
                </a:solidFill>
              </a:rPr>
              <a:t>Melhor</a:t>
            </a:r>
            <a:r>
              <a:rPr lang="en-US" sz="1400" dirty="0">
                <a:solidFill>
                  <a:srgbClr val="0F172A"/>
                </a:solidFill>
              </a:rPr>
              <a:t> </a:t>
            </a:r>
            <a:r>
              <a:rPr lang="en-US" sz="1400" dirty="0" err="1">
                <a:solidFill>
                  <a:srgbClr val="0F172A"/>
                </a:solidFill>
              </a:rPr>
              <a:t>acurácia</a:t>
            </a:r>
            <a:r>
              <a:rPr lang="en-US" sz="1400" dirty="0">
                <a:solidFill>
                  <a:srgbClr val="0F172A"/>
                </a:solidFill>
              </a:rPr>
              <a:t> individual.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err="1">
                <a:solidFill>
                  <a:srgbClr val="FFFFFF"/>
                </a:solidFill>
              </a:rPr>
              <a:t>Resultados</a:t>
            </a:r>
            <a:r>
              <a:rPr lang="en-US" sz="2600" b="1" dirty="0">
                <a:solidFill>
                  <a:srgbClr val="FFFFFF"/>
                </a:solidFill>
              </a:rPr>
              <a:t> - Comparação de Acurácia</a:t>
            </a:r>
            <a:endParaRPr lang="en-US" sz="2600" dirty="0"/>
          </a:p>
        </p:txBody>
      </p:sp>
      <p:graphicFrame>
        <p:nvGraphicFramePr>
          <p:cNvPr id="4" name="Chart 0"/>
          <p:cNvGraphicFramePr/>
          <p:nvPr/>
        </p:nvGraphicFramePr>
        <p:xfrm>
          <a:off x="365760" y="1143000"/>
          <a:ext cx="530352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89320" y="1371600"/>
            <a:ext cx="2834640" cy="1508760"/>
          </a:xfrm>
          <a:prstGeom prst="roundRect">
            <a:avLst>
              <a:gd name="adj" fmla="val 6061"/>
            </a:avLst>
          </a:prstGeom>
          <a:solidFill>
            <a:srgbClr val="FFFFFF"/>
          </a:solidFill>
          <a:ln/>
          <a:effectLst>
            <a:outerShdw blurRad="76200" dist="25400" dir="2700000" algn="bl" rotWithShape="0">
              <a:srgbClr val="000000">
                <a:alpha val="8000"/>
              </a:srgbClr>
            </a:outerShdw>
          </a:effectLst>
        </p:spPr>
      </p:sp>
      <p:sp>
        <p:nvSpPr>
          <p:cNvPr id="6" name="Text 3"/>
          <p:cNvSpPr/>
          <p:nvPr/>
        </p:nvSpPr>
        <p:spPr>
          <a:xfrm>
            <a:off x="6126480" y="1508760"/>
            <a:ext cx="2560320" cy="320040"/>
          </a:xfrm>
          <a:prstGeom prst="rect">
            <a:avLst/>
          </a:prstGeom>
          <a:noFill/>
          <a:ln/>
        </p:spPr>
        <p:txBody>
          <a:bodyPr wrap="square" rtlCol="0" anchor="ctr"/>
          <a:lstStyle/>
          <a:p>
            <a:pPr marL="0" indent="0">
              <a:buNone/>
            </a:pPr>
            <a:r>
              <a:rPr lang="en-US" sz="1100" dirty="0">
                <a:solidFill>
                  <a:srgbClr val="94A3B8"/>
                </a:solidFill>
              </a:rPr>
              <a:t>Melhor individual</a:t>
            </a:r>
            <a:endParaRPr lang="en-US" sz="1100" dirty="0"/>
          </a:p>
        </p:txBody>
      </p:sp>
      <p:sp>
        <p:nvSpPr>
          <p:cNvPr id="7" name="Text 4"/>
          <p:cNvSpPr/>
          <p:nvPr/>
        </p:nvSpPr>
        <p:spPr>
          <a:xfrm>
            <a:off x="6126480" y="1810512"/>
            <a:ext cx="2560320" cy="594360"/>
          </a:xfrm>
          <a:prstGeom prst="rect">
            <a:avLst/>
          </a:prstGeom>
          <a:noFill/>
          <a:ln/>
        </p:spPr>
        <p:txBody>
          <a:bodyPr wrap="square" rtlCol="0" anchor="ctr"/>
          <a:lstStyle/>
          <a:p>
            <a:pPr marL="0" indent="0">
              <a:buNone/>
            </a:pPr>
            <a:r>
              <a:rPr lang="en-US" sz="2600" b="1" dirty="0">
                <a:solidFill>
                  <a:srgbClr val="059669"/>
                </a:solidFill>
              </a:rPr>
              <a:t>93,4%</a:t>
            </a:r>
            <a:endParaRPr lang="en-US" sz="2600" dirty="0"/>
          </a:p>
        </p:txBody>
      </p:sp>
      <p:sp>
        <p:nvSpPr>
          <p:cNvPr id="8" name="Text 5"/>
          <p:cNvSpPr/>
          <p:nvPr/>
        </p:nvSpPr>
        <p:spPr>
          <a:xfrm>
            <a:off x="6126480" y="2377440"/>
            <a:ext cx="2560320" cy="320040"/>
          </a:xfrm>
          <a:prstGeom prst="rect">
            <a:avLst/>
          </a:prstGeom>
          <a:noFill/>
          <a:ln/>
        </p:spPr>
        <p:txBody>
          <a:bodyPr wrap="square" rtlCol="0" anchor="ctr"/>
          <a:lstStyle/>
          <a:p>
            <a:pPr marL="0" indent="0">
              <a:buNone/>
            </a:pPr>
            <a:r>
              <a:rPr lang="en-US" sz="1100" dirty="0">
                <a:solidFill>
                  <a:srgbClr val="475569"/>
                </a:solidFill>
              </a:rPr>
              <a:t>Regressão Logística</a:t>
            </a:r>
            <a:endParaRPr lang="en-US" sz="1100" dirty="0"/>
          </a:p>
        </p:txBody>
      </p:sp>
      <p:sp>
        <p:nvSpPr>
          <p:cNvPr id="9" name="Shape 6"/>
          <p:cNvSpPr/>
          <p:nvPr/>
        </p:nvSpPr>
        <p:spPr>
          <a:xfrm>
            <a:off x="5989320" y="3200400"/>
            <a:ext cx="2834640" cy="1508760"/>
          </a:xfrm>
          <a:prstGeom prst="roundRect">
            <a:avLst>
              <a:gd name="adj" fmla="val 6061"/>
            </a:avLst>
          </a:prstGeom>
          <a:solidFill>
            <a:srgbClr val="FFFFFF"/>
          </a:solidFill>
          <a:ln/>
          <a:effectLst>
            <a:outerShdw blurRad="76200" dist="25400" dir="2700000" algn="bl" rotWithShape="0">
              <a:srgbClr val="000000">
                <a:alpha val="8000"/>
              </a:srgbClr>
            </a:outerShdw>
          </a:effectLst>
        </p:spPr>
      </p:sp>
      <p:sp>
        <p:nvSpPr>
          <p:cNvPr id="10" name="Text 7"/>
          <p:cNvSpPr/>
          <p:nvPr/>
        </p:nvSpPr>
        <p:spPr>
          <a:xfrm>
            <a:off x="6126480" y="3337560"/>
            <a:ext cx="2560320" cy="320040"/>
          </a:xfrm>
          <a:prstGeom prst="rect">
            <a:avLst/>
          </a:prstGeom>
          <a:noFill/>
          <a:ln/>
        </p:spPr>
        <p:txBody>
          <a:bodyPr wrap="square" rtlCol="0" anchor="ctr"/>
          <a:lstStyle/>
          <a:p>
            <a:pPr marL="0" indent="0">
              <a:buNone/>
            </a:pPr>
            <a:r>
              <a:rPr lang="en-US" sz="1100" dirty="0">
                <a:solidFill>
                  <a:srgbClr val="94A3B8"/>
                </a:solidFill>
              </a:rPr>
              <a:t>Comitê</a:t>
            </a:r>
            <a:endParaRPr lang="en-US" sz="1100" dirty="0"/>
          </a:p>
        </p:txBody>
      </p:sp>
      <p:sp>
        <p:nvSpPr>
          <p:cNvPr id="11" name="Text 8"/>
          <p:cNvSpPr/>
          <p:nvPr/>
        </p:nvSpPr>
        <p:spPr>
          <a:xfrm>
            <a:off x="6126480" y="3639312"/>
            <a:ext cx="2560320" cy="594360"/>
          </a:xfrm>
          <a:prstGeom prst="rect">
            <a:avLst/>
          </a:prstGeom>
          <a:noFill/>
          <a:ln/>
        </p:spPr>
        <p:txBody>
          <a:bodyPr wrap="square" rtlCol="0" anchor="ctr"/>
          <a:lstStyle/>
          <a:p>
            <a:pPr marL="0" indent="0">
              <a:buNone/>
            </a:pPr>
            <a:r>
              <a:rPr lang="en-US" sz="2600" b="1" dirty="0">
                <a:solidFill>
                  <a:srgbClr val="0D9488"/>
                </a:solidFill>
              </a:rPr>
              <a:t>Robusto</a:t>
            </a:r>
            <a:endParaRPr lang="en-US" sz="2600" dirty="0"/>
          </a:p>
        </p:txBody>
      </p:sp>
      <p:sp>
        <p:nvSpPr>
          <p:cNvPr id="12" name="Text 9"/>
          <p:cNvSpPr/>
          <p:nvPr/>
        </p:nvSpPr>
        <p:spPr>
          <a:xfrm>
            <a:off x="6126480" y="4206240"/>
            <a:ext cx="2560320" cy="320040"/>
          </a:xfrm>
          <a:prstGeom prst="rect">
            <a:avLst/>
          </a:prstGeom>
          <a:noFill/>
          <a:ln/>
        </p:spPr>
        <p:txBody>
          <a:bodyPr wrap="square" rtlCol="0" anchor="ctr"/>
          <a:lstStyle/>
          <a:p>
            <a:pPr marL="0" indent="0">
              <a:buNone/>
            </a:pPr>
            <a:r>
              <a:rPr lang="en-US" sz="1100" dirty="0">
                <a:solidFill>
                  <a:srgbClr val="475569"/>
                </a:solidFill>
              </a:rPr>
              <a:t>Combina os 3 modelos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2444"/>
          </a:solidFill>
          <a:ln/>
        </p:spPr>
      </p:sp>
      <p:sp>
        <p:nvSpPr>
          <p:cNvPr id="3" name="Text 1"/>
          <p:cNvSpPr/>
          <p:nvPr/>
        </p:nvSpPr>
        <p:spPr>
          <a:xfrm>
            <a:off x="365760" y="0"/>
            <a:ext cx="8412480" cy="1005840"/>
          </a:xfrm>
          <a:prstGeom prst="rect">
            <a:avLst/>
          </a:prstGeom>
          <a:noFill/>
          <a:ln/>
        </p:spPr>
        <p:txBody>
          <a:bodyPr wrap="square" rtlCol="0" anchor="ctr"/>
          <a:lstStyle/>
          <a:p>
            <a:pPr marL="0" indent="0">
              <a:buNone/>
            </a:pPr>
            <a:r>
              <a:rPr lang="en-US" sz="2600" b="1" dirty="0">
                <a:solidFill>
                  <a:srgbClr val="FFFFFF"/>
                </a:solidFill>
              </a:rPr>
              <a:t>Conclusão</a:t>
            </a:r>
            <a:endParaRPr lang="en-US" sz="2600" dirty="0"/>
          </a:p>
        </p:txBody>
      </p:sp>
      <p:sp>
        <p:nvSpPr>
          <p:cNvPr id="4" name="Shape 2"/>
          <p:cNvSpPr/>
          <p:nvPr/>
        </p:nvSpPr>
        <p:spPr>
          <a:xfrm>
            <a:off x="365760" y="1234440"/>
            <a:ext cx="3931920" cy="1554480"/>
          </a:xfrm>
          <a:prstGeom prst="roundRect">
            <a:avLst>
              <a:gd name="adj" fmla="val 5882"/>
            </a:avLst>
          </a:prstGeom>
          <a:solidFill>
            <a:srgbClr val="FFFFFF"/>
          </a:solidFill>
          <a:ln/>
          <a:effectLst>
            <a:outerShdw blurRad="76200" dist="25400" dir="2700000" algn="bl" rotWithShape="0">
              <a:srgbClr val="000000">
                <a:alpha val="8000"/>
              </a:srgbClr>
            </a:outerShdw>
          </a:effectLst>
        </p:spPr>
      </p:sp>
      <p:sp>
        <p:nvSpPr>
          <p:cNvPr id="5" name="Text 3"/>
          <p:cNvSpPr/>
          <p:nvPr/>
        </p:nvSpPr>
        <p:spPr>
          <a:xfrm>
            <a:off x="502920" y="1417320"/>
            <a:ext cx="502920" cy="50292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6" name="Text 4"/>
          <p:cNvSpPr/>
          <p:nvPr/>
        </p:nvSpPr>
        <p:spPr>
          <a:xfrm>
            <a:off x="1051560" y="1399032"/>
            <a:ext cx="3108960" cy="411480"/>
          </a:xfrm>
          <a:prstGeom prst="rect">
            <a:avLst/>
          </a:prstGeom>
          <a:noFill/>
          <a:ln/>
        </p:spPr>
        <p:txBody>
          <a:bodyPr wrap="square" rtlCol="0" anchor="ctr"/>
          <a:lstStyle/>
          <a:p>
            <a:pPr marL="0" indent="0">
              <a:buNone/>
            </a:pPr>
            <a:r>
              <a:rPr lang="en-US" sz="1300" b="1" dirty="0">
                <a:solidFill>
                  <a:srgbClr val="1A2444"/>
                </a:solidFill>
              </a:rPr>
              <a:t>IA consegue prever burnout</a:t>
            </a:r>
            <a:endParaRPr lang="en-US" sz="1300" dirty="0"/>
          </a:p>
        </p:txBody>
      </p:sp>
      <p:sp>
        <p:nvSpPr>
          <p:cNvPr id="7" name="Text 5"/>
          <p:cNvSpPr/>
          <p:nvPr/>
        </p:nvSpPr>
        <p:spPr>
          <a:xfrm>
            <a:off x="1051560" y="1801368"/>
            <a:ext cx="3108960" cy="777240"/>
          </a:xfrm>
          <a:prstGeom prst="rect">
            <a:avLst/>
          </a:prstGeom>
          <a:noFill/>
          <a:ln/>
        </p:spPr>
        <p:txBody>
          <a:bodyPr wrap="square" rtlCol="0" anchor="ctr"/>
          <a:lstStyle/>
          <a:p>
            <a:pPr marL="0" indent="0">
              <a:buNone/>
            </a:pPr>
            <a:r>
              <a:rPr lang="en-US" sz="1100" dirty="0">
                <a:solidFill>
                  <a:srgbClr val="475569"/>
                </a:solidFill>
              </a:rPr>
              <a:t>Com acurácia de até 93,4% nos dados de teste.</a:t>
            </a:r>
            <a:endParaRPr lang="en-US" sz="1100" dirty="0"/>
          </a:p>
        </p:txBody>
      </p:sp>
      <p:sp>
        <p:nvSpPr>
          <p:cNvPr id="8" name="Shape 6"/>
          <p:cNvSpPr/>
          <p:nvPr/>
        </p:nvSpPr>
        <p:spPr>
          <a:xfrm>
            <a:off x="4663440" y="1234440"/>
            <a:ext cx="3931920" cy="1554480"/>
          </a:xfrm>
          <a:prstGeom prst="roundRect">
            <a:avLst>
              <a:gd name="adj" fmla="val 5882"/>
            </a:avLst>
          </a:prstGeom>
          <a:solidFill>
            <a:srgbClr val="FFFFFF"/>
          </a:solidFill>
          <a:ln/>
          <a:effectLst>
            <a:outerShdw blurRad="76200" dist="25400" dir="2700000" algn="bl" rotWithShape="0">
              <a:srgbClr val="000000">
                <a:alpha val="8000"/>
              </a:srgbClr>
            </a:outerShdw>
          </a:effectLst>
        </p:spPr>
      </p:sp>
      <p:sp>
        <p:nvSpPr>
          <p:cNvPr id="9" name="Text 7"/>
          <p:cNvSpPr/>
          <p:nvPr/>
        </p:nvSpPr>
        <p:spPr>
          <a:xfrm>
            <a:off x="4800600" y="1417320"/>
            <a:ext cx="502920" cy="50292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0" name="Text 8"/>
          <p:cNvSpPr/>
          <p:nvPr/>
        </p:nvSpPr>
        <p:spPr>
          <a:xfrm>
            <a:off x="5349240" y="1399032"/>
            <a:ext cx="3108960" cy="411480"/>
          </a:xfrm>
          <a:prstGeom prst="rect">
            <a:avLst/>
          </a:prstGeom>
          <a:noFill/>
          <a:ln/>
        </p:spPr>
        <p:txBody>
          <a:bodyPr wrap="square" rtlCol="0" anchor="ctr"/>
          <a:lstStyle/>
          <a:p>
            <a:pPr marL="0" indent="0">
              <a:buNone/>
            </a:pPr>
            <a:r>
              <a:rPr lang="en-US" sz="1300" b="1" dirty="0">
                <a:solidFill>
                  <a:srgbClr val="1A2444"/>
                </a:solidFill>
              </a:rPr>
              <a:t>Comitê = mais confiabilidade</a:t>
            </a:r>
            <a:endParaRPr lang="en-US" sz="1300" dirty="0"/>
          </a:p>
        </p:txBody>
      </p:sp>
      <p:sp>
        <p:nvSpPr>
          <p:cNvPr id="11" name="Text 9"/>
          <p:cNvSpPr/>
          <p:nvPr/>
        </p:nvSpPr>
        <p:spPr>
          <a:xfrm>
            <a:off x="5349240" y="1801368"/>
            <a:ext cx="3108960" cy="777240"/>
          </a:xfrm>
          <a:prstGeom prst="rect">
            <a:avLst/>
          </a:prstGeom>
          <a:noFill/>
          <a:ln/>
        </p:spPr>
        <p:txBody>
          <a:bodyPr wrap="square" rtlCol="0" anchor="ctr"/>
          <a:lstStyle/>
          <a:p>
            <a:pPr marL="0" indent="0">
              <a:buNone/>
            </a:pPr>
            <a:r>
              <a:rPr lang="en-US" sz="1100" dirty="0">
                <a:solidFill>
                  <a:srgbClr val="475569"/>
                </a:solidFill>
              </a:rPr>
              <a:t>Combinar modelos reduz erros e aumenta a robustez da previsão.</a:t>
            </a:r>
            <a:endParaRPr lang="en-US" sz="1100" dirty="0"/>
          </a:p>
        </p:txBody>
      </p:sp>
      <p:sp>
        <p:nvSpPr>
          <p:cNvPr id="12" name="Shape 10"/>
          <p:cNvSpPr/>
          <p:nvPr/>
        </p:nvSpPr>
        <p:spPr>
          <a:xfrm>
            <a:off x="365760" y="3017520"/>
            <a:ext cx="3931920" cy="1554480"/>
          </a:xfrm>
          <a:prstGeom prst="roundRect">
            <a:avLst>
              <a:gd name="adj" fmla="val 5882"/>
            </a:avLst>
          </a:prstGeom>
          <a:solidFill>
            <a:srgbClr val="FFFFFF"/>
          </a:solidFill>
          <a:ln/>
          <a:effectLst>
            <a:outerShdw blurRad="76200" dist="25400" dir="2700000" algn="bl" rotWithShape="0">
              <a:srgbClr val="000000">
                <a:alpha val="8000"/>
              </a:srgbClr>
            </a:outerShdw>
          </a:effectLst>
        </p:spPr>
      </p:sp>
      <p:sp>
        <p:nvSpPr>
          <p:cNvPr id="13" name="Text 11"/>
          <p:cNvSpPr/>
          <p:nvPr/>
        </p:nvSpPr>
        <p:spPr>
          <a:xfrm>
            <a:off x="502920" y="3200400"/>
            <a:ext cx="502920" cy="50292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4" name="Text 12"/>
          <p:cNvSpPr/>
          <p:nvPr/>
        </p:nvSpPr>
        <p:spPr>
          <a:xfrm>
            <a:off x="1051560" y="3182112"/>
            <a:ext cx="3108960" cy="411480"/>
          </a:xfrm>
          <a:prstGeom prst="rect">
            <a:avLst/>
          </a:prstGeom>
          <a:noFill/>
          <a:ln/>
        </p:spPr>
        <p:txBody>
          <a:bodyPr wrap="square" rtlCol="0" anchor="ctr"/>
          <a:lstStyle/>
          <a:p>
            <a:pPr marL="0" indent="0">
              <a:buNone/>
            </a:pPr>
            <a:r>
              <a:rPr lang="en-US" sz="1300" b="1" dirty="0">
                <a:solidFill>
                  <a:srgbClr val="1A2444"/>
                </a:solidFill>
              </a:rPr>
              <a:t>Limitações identificadas</a:t>
            </a:r>
            <a:endParaRPr lang="en-US" sz="1300" dirty="0"/>
          </a:p>
        </p:txBody>
      </p:sp>
      <p:sp>
        <p:nvSpPr>
          <p:cNvPr id="15" name="Text 13"/>
          <p:cNvSpPr/>
          <p:nvPr/>
        </p:nvSpPr>
        <p:spPr>
          <a:xfrm>
            <a:off x="1051560" y="3584448"/>
            <a:ext cx="3108960" cy="777240"/>
          </a:xfrm>
          <a:prstGeom prst="rect">
            <a:avLst/>
          </a:prstGeom>
          <a:noFill/>
          <a:ln/>
        </p:spPr>
        <p:txBody>
          <a:bodyPr wrap="square" rtlCol="0" anchor="ctr"/>
          <a:lstStyle/>
          <a:p>
            <a:pPr marL="0" indent="0">
              <a:buNone/>
            </a:pPr>
            <a:r>
              <a:rPr lang="en-US" sz="1100" dirty="0">
                <a:solidFill>
                  <a:srgbClr val="475569"/>
                </a:solidFill>
              </a:rPr>
              <a:t>Ausência de normalização afetou o KNN e a Regressão Logística.</a:t>
            </a:r>
            <a:endParaRPr lang="en-US" sz="1100" dirty="0"/>
          </a:p>
        </p:txBody>
      </p:sp>
      <p:sp>
        <p:nvSpPr>
          <p:cNvPr id="16" name="Shape 14"/>
          <p:cNvSpPr/>
          <p:nvPr/>
        </p:nvSpPr>
        <p:spPr>
          <a:xfrm>
            <a:off x="4663440" y="3017520"/>
            <a:ext cx="3931920" cy="1554480"/>
          </a:xfrm>
          <a:prstGeom prst="roundRect">
            <a:avLst>
              <a:gd name="adj" fmla="val 5882"/>
            </a:avLst>
          </a:prstGeom>
          <a:solidFill>
            <a:srgbClr val="FFFFFF"/>
          </a:solidFill>
          <a:ln/>
          <a:effectLst>
            <a:outerShdw blurRad="76200" dist="25400" dir="2700000" algn="bl" rotWithShape="0">
              <a:srgbClr val="000000">
                <a:alpha val="8000"/>
              </a:srgbClr>
            </a:outerShdw>
          </a:effectLst>
        </p:spPr>
      </p:sp>
      <p:sp>
        <p:nvSpPr>
          <p:cNvPr id="17" name="Text 15"/>
          <p:cNvSpPr/>
          <p:nvPr/>
        </p:nvSpPr>
        <p:spPr>
          <a:xfrm>
            <a:off x="4800600" y="3200400"/>
            <a:ext cx="502920" cy="50292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8" name="Text 16"/>
          <p:cNvSpPr/>
          <p:nvPr/>
        </p:nvSpPr>
        <p:spPr>
          <a:xfrm>
            <a:off x="5349240" y="3182112"/>
            <a:ext cx="3108960" cy="411480"/>
          </a:xfrm>
          <a:prstGeom prst="rect">
            <a:avLst/>
          </a:prstGeom>
          <a:noFill/>
          <a:ln/>
        </p:spPr>
        <p:txBody>
          <a:bodyPr wrap="square" rtlCol="0" anchor="ctr"/>
          <a:lstStyle/>
          <a:p>
            <a:pPr marL="0" indent="0">
              <a:buNone/>
            </a:pPr>
            <a:r>
              <a:rPr lang="en-US" sz="1300" b="1" dirty="0">
                <a:solidFill>
                  <a:srgbClr val="1A2444"/>
                </a:solidFill>
              </a:rPr>
              <a:t>Melhorias futuras</a:t>
            </a:r>
            <a:endParaRPr lang="en-US" sz="1300" dirty="0"/>
          </a:p>
        </p:txBody>
      </p:sp>
      <p:sp>
        <p:nvSpPr>
          <p:cNvPr id="19" name="Text 17"/>
          <p:cNvSpPr/>
          <p:nvPr/>
        </p:nvSpPr>
        <p:spPr>
          <a:xfrm>
            <a:off x="5349240" y="3584448"/>
            <a:ext cx="3108960" cy="777240"/>
          </a:xfrm>
          <a:prstGeom prst="rect">
            <a:avLst/>
          </a:prstGeom>
          <a:noFill/>
          <a:ln/>
        </p:spPr>
        <p:txBody>
          <a:bodyPr wrap="square" rtlCol="0" anchor="ctr"/>
          <a:lstStyle/>
          <a:p>
            <a:pPr marL="0" indent="0">
              <a:buNone/>
            </a:pPr>
            <a:r>
              <a:rPr lang="en-US" sz="1100" dirty="0">
                <a:solidFill>
                  <a:srgbClr val="475569"/>
                </a:solidFill>
              </a:rPr>
              <a:t>Aplicar StandardScaler, testar mais algoritmos e avaliar o comitê com métricas completas.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1A2444"/>
        </a:solidFill>
        <a:effectLst/>
      </p:bgPr>
    </p:bg>
    <p:spTree>
      <p:nvGrpSpPr>
        <p:cNvPr id="1" name=""/>
        <p:cNvGrpSpPr/>
        <p:nvPr/>
      </p:nvGrpSpPr>
      <p:grpSpPr>
        <a:xfrm>
          <a:off x="0" y="0"/>
          <a:ext cx="0" cy="0"/>
          <a:chOff x="0" y="0"/>
          <a:chExt cx="0" cy="0"/>
        </a:xfrm>
      </p:grpSpPr>
      <p:sp>
        <p:nvSpPr>
          <p:cNvPr id="2" name="Shape 0"/>
          <p:cNvSpPr/>
          <p:nvPr/>
        </p:nvSpPr>
        <p:spPr>
          <a:xfrm>
            <a:off x="0" y="2103120"/>
            <a:ext cx="9144000" cy="914400"/>
          </a:xfrm>
          <a:prstGeom prst="rect">
            <a:avLst/>
          </a:prstGeom>
          <a:solidFill>
            <a:srgbClr val="0D9488"/>
          </a:solidFill>
          <a:ln/>
        </p:spPr>
      </p:sp>
      <p:sp>
        <p:nvSpPr>
          <p:cNvPr id="3" name="Text 1"/>
          <p:cNvSpPr/>
          <p:nvPr/>
        </p:nvSpPr>
        <p:spPr>
          <a:xfrm>
            <a:off x="457200" y="640080"/>
            <a:ext cx="8229600" cy="1005840"/>
          </a:xfrm>
          <a:prstGeom prst="rect">
            <a:avLst/>
          </a:prstGeom>
          <a:noFill/>
          <a:ln/>
        </p:spPr>
        <p:txBody>
          <a:bodyPr wrap="square" rtlCol="0" anchor="ctr"/>
          <a:lstStyle/>
          <a:p>
            <a:pPr marL="0" indent="0" algn="ctr">
              <a:buNone/>
            </a:pPr>
            <a:r>
              <a:rPr lang="en-US" sz="4400" b="1" dirty="0">
                <a:solidFill>
                  <a:srgbClr val="FFFFFF"/>
                </a:solidFill>
              </a:rPr>
              <a:t>Obrigado!</a:t>
            </a:r>
            <a:endParaRPr lang="en-US" sz="4400" dirty="0"/>
          </a:p>
        </p:txBody>
      </p:sp>
      <p:sp>
        <p:nvSpPr>
          <p:cNvPr id="4" name="Text 2"/>
          <p:cNvSpPr/>
          <p:nvPr/>
        </p:nvSpPr>
        <p:spPr>
          <a:xfrm>
            <a:off x="457200" y="2148840"/>
            <a:ext cx="8229600" cy="822960"/>
          </a:xfrm>
          <a:prstGeom prst="rect">
            <a:avLst/>
          </a:prstGeom>
          <a:noFill/>
          <a:ln/>
        </p:spPr>
        <p:txBody>
          <a:bodyPr wrap="square" rtlCol="0" anchor="ctr"/>
          <a:lstStyle/>
          <a:p>
            <a:pPr marL="0" indent="0" algn="ctr">
              <a:buNone/>
            </a:pPr>
            <a:r>
              <a:rPr lang="en-US" sz="1800" dirty="0">
                <a:solidFill>
                  <a:srgbClr val="FFFFFF"/>
                </a:solidFill>
              </a:rPr>
              <a:t>Ficamos à disposição para perguntas</a:t>
            </a:r>
            <a:endParaRPr lang="en-US" sz="1800" dirty="0"/>
          </a:p>
        </p:txBody>
      </p:sp>
      <p:sp>
        <p:nvSpPr>
          <p:cNvPr id="6" name="Text 4"/>
          <p:cNvSpPr/>
          <p:nvPr/>
        </p:nvSpPr>
        <p:spPr>
          <a:xfrm>
            <a:off x="457200" y="4572000"/>
            <a:ext cx="8229600" cy="320040"/>
          </a:xfrm>
          <a:prstGeom prst="rect">
            <a:avLst/>
          </a:prstGeom>
          <a:noFill/>
          <a:ln/>
        </p:spPr>
        <p:txBody>
          <a:bodyPr wrap="square" rtlCol="0" anchor="ctr"/>
          <a:lstStyle/>
          <a:p>
            <a:pPr marL="0" indent="0" algn="ctr">
              <a:buNone/>
            </a:pPr>
            <a:r>
              <a:rPr lang="en-US" sz="1100" i="1" dirty="0">
                <a:solidFill>
                  <a:srgbClr val="94A3B8"/>
                </a:solidFill>
              </a:rPr>
              <a:t>Universidade São Judas Tadeu  ·  Inteligência Artificial  ·  2026</a:t>
            </a:r>
            <a:endParaRPr lang="en-US" sz="1100" dirty="0"/>
          </a:p>
        </p:txBody>
      </p:sp>
      <p:sp>
        <p:nvSpPr>
          <p:cNvPr id="7" name="Text 4">
            <a:extLst>
              <a:ext uri="{FF2B5EF4-FFF2-40B4-BE49-F238E27FC236}">
                <a16:creationId xmlns:a16="http://schemas.microsoft.com/office/drawing/2014/main" id="{AD319905-4B30-498F-A3E3-EF617FC4E8A5}"/>
              </a:ext>
            </a:extLst>
          </p:cNvPr>
          <p:cNvSpPr/>
          <p:nvPr/>
        </p:nvSpPr>
        <p:spPr>
          <a:xfrm>
            <a:off x="457200" y="3110948"/>
            <a:ext cx="8229600" cy="1463040"/>
          </a:xfrm>
          <a:prstGeom prst="rect">
            <a:avLst/>
          </a:prstGeom>
          <a:noFill/>
          <a:ln/>
        </p:spPr>
        <p:txBody>
          <a:bodyPr wrap="square" numCol="1" rtlCol="0" anchor="ctr"/>
          <a:lstStyle/>
          <a:p>
            <a:pPr algn="ctr"/>
            <a:r>
              <a:rPr lang="en-US" sz="1300" dirty="0" err="1">
                <a:solidFill>
                  <a:srgbClr val="FFFFFF"/>
                </a:solidFill>
              </a:rPr>
              <a:t>Kaic</a:t>
            </a:r>
            <a:r>
              <a:rPr lang="en-US" sz="1300" dirty="0">
                <a:solidFill>
                  <a:srgbClr val="FFFFFF"/>
                </a:solidFill>
              </a:rPr>
              <a:t> Cavalcanti (824155037)  ·  Gustavo Soggia (824147271)  ·  Pedro Carvalho (825211344)</a:t>
            </a:r>
            <a:endParaRPr lang="en-US" sz="1300" dirty="0"/>
          </a:p>
          <a:p>
            <a:pPr algn="ctr"/>
            <a:r>
              <a:rPr lang="en-US" sz="1300" dirty="0" err="1">
                <a:solidFill>
                  <a:srgbClr val="FFFFFF"/>
                </a:solidFill>
              </a:rPr>
              <a:t>Kaique</a:t>
            </a:r>
            <a:r>
              <a:rPr lang="en-US" sz="1300" dirty="0">
                <a:solidFill>
                  <a:srgbClr val="FFFFFF"/>
                </a:solidFill>
              </a:rPr>
              <a:t> </a:t>
            </a:r>
            <a:r>
              <a:rPr lang="en-US" sz="1300" dirty="0" err="1">
                <a:solidFill>
                  <a:srgbClr val="FFFFFF"/>
                </a:solidFill>
              </a:rPr>
              <a:t>Diniz</a:t>
            </a:r>
            <a:r>
              <a:rPr lang="en-US" sz="1300" dirty="0">
                <a:solidFill>
                  <a:srgbClr val="FFFFFF"/>
                </a:solidFill>
              </a:rPr>
              <a:t> (824155790)  ·  </a:t>
            </a:r>
            <a:r>
              <a:rPr lang="en-US" sz="1300" dirty="0" err="1">
                <a:solidFill>
                  <a:srgbClr val="FFFFFF"/>
                </a:solidFill>
              </a:rPr>
              <a:t>Wanderlei</a:t>
            </a:r>
            <a:r>
              <a:rPr lang="en-US" sz="1300" dirty="0">
                <a:solidFill>
                  <a:srgbClr val="FFFFFF"/>
                </a:solidFill>
              </a:rPr>
              <a:t> </a:t>
            </a:r>
            <a:r>
              <a:rPr lang="en-US" sz="1300" dirty="0" err="1">
                <a:solidFill>
                  <a:srgbClr val="FFFFFF"/>
                </a:solidFill>
              </a:rPr>
              <a:t>Mamani</a:t>
            </a:r>
            <a:r>
              <a:rPr lang="en-US" sz="1300" dirty="0">
                <a:solidFill>
                  <a:srgbClr val="FFFFFF"/>
                </a:solidFill>
              </a:rPr>
              <a:t> (824145077)  ·  Rafaela de Carvalho (823117359)</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E66AA745929946AC78109760A4E8DC" ma:contentTypeVersion="6" ma:contentTypeDescription="Create a new document." ma:contentTypeScope="" ma:versionID="6000bae3b1cd548e5d0ac1fa8cd0c5c8">
  <xsd:schema xmlns:xsd="http://www.w3.org/2001/XMLSchema" xmlns:xs="http://www.w3.org/2001/XMLSchema" xmlns:p="http://schemas.microsoft.com/office/2006/metadata/properties" xmlns:ns3="4a0d30f9-d346-4ade-93ef-60b6f5209d00" targetNamespace="http://schemas.microsoft.com/office/2006/metadata/properties" ma:root="true" ma:fieldsID="421ac89c022d7f98479293ab7e34eaa6" ns3:_="">
    <xsd:import namespace="4a0d30f9-d346-4ade-93ef-60b6f5209d00"/>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0d30f9-d346-4ade-93ef-60b6f5209d00"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4a0d30f9-d346-4ade-93ef-60b6f5209d0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8468EC-9C47-4001-BC22-1841FC2251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0d30f9-d346-4ade-93ef-60b6f5209d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B0A067-06A7-45E3-A593-1E267F824913}">
  <ds:schemaRefs>
    <ds:schemaRef ds:uri="http://www.w3.org/XML/1998/namespace"/>
    <ds:schemaRef ds:uri="http://schemas.microsoft.com/office/2006/documentManagement/types"/>
    <ds:schemaRef ds:uri="4a0d30f9-d346-4ade-93ef-60b6f5209d00"/>
    <ds:schemaRef ds:uri="http://schemas.microsoft.com/office/2006/metadata/properties"/>
    <ds:schemaRef ds:uri="http://purl.org/dc/dcmitype/"/>
    <ds:schemaRef ds:uri="http://schemas.microsoft.com/office/infopath/2007/PartnerControls"/>
    <ds:schemaRef ds:uri="http://purl.org/dc/term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AF4E2008-FBFD-4D7D-AB32-5AAFA32CFFB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152</TotalTime>
  <Words>2313</Words>
  <Application>Microsoft Office PowerPoint</Application>
  <PresentationFormat>Apresentação na tela (16:9)</PresentationFormat>
  <Paragraphs>209</Paragraphs>
  <Slides>14</Slides>
  <Notes>14</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14</vt:i4>
      </vt:variant>
    </vt:vector>
  </HeadingPairs>
  <TitlesOfParts>
    <vt:vector size="18" baseType="lpstr">
      <vt:lpstr>Arial</vt:lpstr>
      <vt:lpstr>Calibri</vt:lpstr>
      <vt:lpstr>Courier New</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Comitê de Classificadores — Burnout em TI</dc:title>
  <dc:subject>PptxGenJS Presentation</dc:subject>
  <dc:creator>PptxGenJS</dc:creator>
  <cp:lastModifiedBy>Gustavo Pereira Soggia</cp:lastModifiedBy>
  <cp:revision>24</cp:revision>
  <dcterms:created xsi:type="dcterms:W3CDTF">2026-06-09T01:20:20Z</dcterms:created>
  <dcterms:modified xsi:type="dcterms:W3CDTF">2026-06-09T20:43:12Z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0x0101005DE66AA745929946AC78109760A4E8DC</vt:lpwstr>
  </property>
</Properties>
</file>